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691" r:id="rId2"/>
    <p:sldMasterId id="2147483708" r:id="rId3"/>
  </p:sldMasterIdLst>
  <p:sldIdLst>
    <p:sldId id="269" r:id="rId4"/>
    <p:sldId id="257" r:id="rId5"/>
    <p:sldId id="267" r:id="rId6"/>
    <p:sldId id="268" r:id="rId7"/>
    <p:sldId id="259" r:id="rId8"/>
    <p:sldId id="260" r:id="rId9"/>
    <p:sldId id="261" r:id="rId10"/>
    <p:sldId id="262" r:id="rId11"/>
    <p:sldId id="263" r:id="rId12"/>
    <p:sldId id="265" r:id="rId13"/>
    <p:sldId id="266"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587-3447-950A-28F5-17DE81AD1B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21612F8-0108-AD4E-9BCF-3617D27AA9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41D1137-0039-48CF-FBED-9E4EEEB9C895}"/>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a:extLst>
              <a:ext uri="{FF2B5EF4-FFF2-40B4-BE49-F238E27FC236}">
                <a16:creationId xmlns:a16="http://schemas.microsoft.com/office/drawing/2014/main" id="{2143FE06-3D12-F977-967E-38ABAEF8F46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A881AF-EF79-9A61-557B-7ED0808117BD}"/>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403572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07322-A9A9-BD02-EABC-0F1BE6AE01B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1EB542-A856-3D12-53EE-8D9DDD16B7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B4C9865-6142-E690-B210-42630C4A82DA}"/>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a:extLst>
              <a:ext uri="{FF2B5EF4-FFF2-40B4-BE49-F238E27FC236}">
                <a16:creationId xmlns:a16="http://schemas.microsoft.com/office/drawing/2014/main" id="{3CD7D459-A800-EFD2-F2CF-A06EE9155C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439DD6-0198-C1D2-BB3A-8EDBB61D39A1}"/>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595497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3CEA7-E570-9658-6B01-4155266DA3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12FEDD1-7813-190E-FA78-818B7A94CF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5F9A77-C85D-9324-DFEE-E583F608ABE4}"/>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a:extLst>
              <a:ext uri="{FF2B5EF4-FFF2-40B4-BE49-F238E27FC236}">
                <a16:creationId xmlns:a16="http://schemas.microsoft.com/office/drawing/2014/main" id="{805B569E-EFD7-7498-FD95-6CBA787F8E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FBB80DA-CE43-BBE2-AE9E-4B08B43C16FC}"/>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72770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45F8-5E9B-D444-25AA-772C46BE1BB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48D3A5-F561-36FF-F888-86C81DE1D8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30F1809-CE15-7066-15C6-1837EC8AB8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6C8D95A-2604-3A51-5282-7812AEE57267}"/>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a:extLst>
              <a:ext uri="{FF2B5EF4-FFF2-40B4-BE49-F238E27FC236}">
                <a16:creationId xmlns:a16="http://schemas.microsoft.com/office/drawing/2014/main" id="{BDABF994-24C4-A14D-3D70-14EAFE22C53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AA4F25-F3BD-351D-DE89-706A21A73967}"/>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039906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4EF00-A8E3-8DCD-F408-021BE7EB17E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8C68008-FE06-6201-9A1D-90FCD2B233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FFF463-E371-BA32-65CD-4A79F9D5E1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A69CFD8-BE0A-E62C-76CE-9E3E5FAB7B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DF8D5-1FA7-842E-845A-C1C0E7436C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0E1767F-6409-E92C-D6B9-27B987E9D77F}"/>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8" name="Footer Placeholder 7">
            <a:extLst>
              <a:ext uri="{FF2B5EF4-FFF2-40B4-BE49-F238E27FC236}">
                <a16:creationId xmlns:a16="http://schemas.microsoft.com/office/drawing/2014/main" id="{BF23057C-472D-C792-86FC-0096554072F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A8360D1-131A-1C6B-11D1-7975C4ECBA2D}"/>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190007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5B285-27B5-4A42-26B4-4EB06BFAF9E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FB89A4F-5643-C85D-EB05-7F61FAE39893}"/>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4" name="Footer Placeholder 3">
            <a:extLst>
              <a:ext uri="{FF2B5EF4-FFF2-40B4-BE49-F238E27FC236}">
                <a16:creationId xmlns:a16="http://schemas.microsoft.com/office/drawing/2014/main" id="{86EB8D9B-D79B-0722-08B9-685B387CBE5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D7537AC-1C3D-5AAB-5414-039E586D29A5}"/>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641535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EF298B-548F-4F19-8615-EBB8322A411F}"/>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3" name="Footer Placeholder 2">
            <a:extLst>
              <a:ext uri="{FF2B5EF4-FFF2-40B4-BE49-F238E27FC236}">
                <a16:creationId xmlns:a16="http://schemas.microsoft.com/office/drawing/2014/main" id="{6802CCA8-0247-3547-06DD-7D5FBDB578F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997D357-2580-031B-308A-A5A43F4388B8}"/>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755612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05F38-D558-1F5E-DBE4-5EAE901383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32A242B-EA68-763C-C9E5-97FD10079F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65ACDF5-6E69-4373-A05F-2262988786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A64136-7C1B-01AE-3983-F15EEF0633BC}"/>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a:extLst>
              <a:ext uri="{FF2B5EF4-FFF2-40B4-BE49-F238E27FC236}">
                <a16:creationId xmlns:a16="http://schemas.microsoft.com/office/drawing/2014/main" id="{B3EDFC86-B604-99DB-6820-1914753CA38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C92CEF3-A607-4852-93C1-31DE7AFFE536}"/>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4158625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C9330-9AAB-C230-08EB-AA954E750B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AA16CD6-2A20-2D2C-E1DF-E4C9D4E176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17754D8-0C27-74E5-6C4A-78E469E66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3EF913-4425-E144-574A-1832C3423AE0}"/>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a:extLst>
              <a:ext uri="{FF2B5EF4-FFF2-40B4-BE49-F238E27FC236}">
                <a16:creationId xmlns:a16="http://schemas.microsoft.com/office/drawing/2014/main" id="{F81711D6-B200-D674-08D4-B2FA7CC3144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6D63938-2237-A96F-D1A3-BFDD699412F2}"/>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810609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ABA75-0113-6E6F-9AB4-CCC3992465A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34FC79C-D23E-F85D-E8BA-E40D688B8B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1D550F-F70B-7F92-E784-F92F90DB5E63}"/>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a:extLst>
              <a:ext uri="{FF2B5EF4-FFF2-40B4-BE49-F238E27FC236}">
                <a16:creationId xmlns:a16="http://schemas.microsoft.com/office/drawing/2014/main" id="{7E178141-C9ED-5980-271D-2578C30194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D8F1E6-50A1-5327-CA2D-DC037DAC049A}"/>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59782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D01249-B823-322E-19B6-7E1D0B284B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AD31D8B-D7E7-23D8-46F9-286567F1C9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E7A4672-85D0-1D7C-457E-27D05ADDA8A4}"/>
              </a:ext>
            </a:extLst>
          </p:cNvPr>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a:extLst>
              <a:ext uri="{FF2B5EF4-FFF2-40B4-BE49-F238E27FC236}">
                <a16:creationId xmlns:a16="http://schemas.microsoft.com/office/drawing/2014/main" id="{435CA3B4-75E3-60B9-2CEF-31682EAF7A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67DA0CA-FFCB-D5A0-AEFB-544A658FA0B4}"/>
              </a:ext>
            </a:extLst>
          </p:cNvPr>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01911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658358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741168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6045686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087326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AAEF21-4A08-4361-A4B7-77B0121DD715}" type="datetimeFigureOut">
              <a:rPr lang="en-GB" smtClean="0"/>
              <a:t>23/12/2024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727791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AAEF21-4A08-4361-A4B7-77B0121DD715}" type="datetimeFigureOut">
              <a:rPr lang="en-GB" smtClean="0"/>
              <a:t>23/12/2024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795598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AAEF21-4A08-4361-A4B7-77B0121DD715}" type="datetimeFigureOut">
              <a:rPr lang="en-GB" smtClean="0"/>
              <a:t>23/12/2024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622162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4544394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240049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5356563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085662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3993729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468577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6977196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2498354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723453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1849149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0181952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999902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8083615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AAEF21-4A08-4361-A4B7-77B0121DD715}" type="datetimeFigureOut">
              <a:rPr lang="en-GB" smtClean="0"/>
              <a:t>23/12/2024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6003303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AAEF21-4A08-4361-A4B7-77B0121DD715}" type="datetimeFigureOut">
              <a:rPr lang="en-GB" smtClean="0"/>
              <a:t>23/12/2024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2700066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AAEF21-4A08-4361-A4B7-77B0121DD715}" type="datetimeFigureOut">
              <a:rPr lang="en-GB" smtClean="0"/>
              <a:t>23/12/2024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8693099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5332094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AAEF21-4A08-4361-A4B7-77B0121DD715}" type="datetimeFigureOut">
              <a:rPr lang="en-GB" smtClean="0"/>
              <a:t>23/12/2024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1427086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385282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577556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0289230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625527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24805120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12813722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AAEF21-4A08-4361-A4B7-77B0121DD715}" type="datetimeFigureOut">
              <a:rPr lang="en-GB" smtClean="0"/>
              <a:t>23/12/2024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E7EC54-A9C9-4951-AD3E-A250AB347257}" type="slidenum">
              <a:rPr lang="en-GB" smtClean="0"/>
              <a:t>‹#›</a:t>
            </a:fld>
            <a:endParaRPr lang="en-GB"/>
          </a:p>
        </p:txBody>
      </p:sp>
    </p:spTree>
    <p:extLst>
      <p:ext uri="{BB962C8B-B14F-4D97-AF65-F5344CB8AC3E}">
        <p14:creationId xmlns:p14="http://schemas.microsoft.com/office/powerpoint/2010/main" val="639649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theme" Target="../theme/theme3.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54470A-00E0-A58F-8BEE-2189F4FA5D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0D9F635-EC15-2416-3A04-9E9E41C934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59E428-1055-578B-2C40-5716681E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AAEF21-4A08-4361-A4B7-77B0121DD715}" type="datetimeFigureOut">
              <a:rPr lang="en-GB" smtClean="0"/>
              <a:t>23/12/2024</a:t>
            </a:fld>
            <a:endParaRPr lang="en-GB"/>
          </a:p>
        </p:txBody>
      </p:sp>
      <p:sp>
        <p:nvSpPr>
          <p:cNvPr id="5" name="Footer Placeholder 4">
            <a:extLst>
              <a:ext uri="{FF2B5EF4-FFF2-40B4-BE49-F238E27FC236}">
                <a16:creationId xmlns:a16="http://schemas.microsoft.com/office/drawing/2014/main" id="{2D81681B-3DCF-0B7C-DB03-0435AF773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338531D-EBD9-07DB-7C35-23390F7D93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E7EC54-A9C9-4951-AD3E-A250AB347257}" type="slidenum">
              <a:rPr lang="en-GB" smtClean="0"/>
              <a:t>‹#›</a:t>
            </a:fld>
            <a:endParaRPr lang="en-GB"/>
          </a:p>
        </p:txBody>
      </p:sp>
    </p:spTree>
    <p:extLst>
      <p:ext uri="{BB962C8B-B14F-4D97-AF65-F5344CB8AC3E}">
        <p14:creationId xmlns:p14="http://schemas.microsoft.com/office/powerpoint/2010/main" val="384678806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AAEF21-4A08-4361-A4B7-77B0121DD715}" type="datetimeFigureOut">
              <a:rPr lang="en-GB" smtClean="0"/>
              <a:t>23/12/2024</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8E7EC54-A9C9-4951-AD3E-A250AB347257}" type="slidenum">
              <a:rPr lang="en-GB" smtClean="0"/>
              <a:t>‹#›</a:t>
            </a:fld>
            <a:endParaRPr lang="en-GB"/>
          </a:p>
        </p:txBody>
      </p:sp>
    </p:spTree>
    <p:extLst>
      <p:ext uri="{BB962C8B-B14F-4D97-AF65-F5344CB8AC3E}">
        <p14:creationId xmlns:p14="http://schemas.microsoft.com/office/powerpoint/2010/main" val="1461554583"/>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AAEF21-4A08-4361-A4B7-77B0121DD715}" type="datetimeFigureOut">
              <a:rPr lang="en-GB" smtClean="0"/>
              <a:t>23/12/2024</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8E7EC54-A9C9-4951-AD3E-A250AB347257}" type="slidenum">
              <a:rPr lang="en-GB" smtClean="0"/>
              <a:t>‹#›</a:t>
            </a:fld>
            <a:endParaRPr lang="en-GB"/>
          </a:p>
        </p:txBody>
      </p:sp>
    </p:spTree>
    <p:extLst>
      <p:ext uri="{BB962C8B-B14F-4D97-AF65-F5344CB8AC3E}">
        <p14:creationId xmlns:p14="http://schemas.microsoft.com/office/powerpoint/2010/main" val="349548051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D7B44-025B-CC95-CD64-C6239E6E78E0}"/>
              </a:ext>
            </a:extLst>
          </p:cNvPr>
          <p:cNvSpPr>
            <a:spLocks noGrp="1"/>
          </p:cNvSpPr>
          <p:nvPr>
            <p:ph type="title"/>
          </p:nvPr>
        </p:nvSpPr>
        <p:spPr>
          <a:xfrm>
            <a:off x="677334" y="609599"/>
            <a:ext cx="8596668" cy="1550989"/>
          </a:xfrm>
        </p:spPr>
        <p:txBody>
          <a:bodyPr>
            <a:normAutofit fontScale="90000"/>
          </a:bodyPr>
          <a:lstStyle/>
          <a:p>
            <a:pPr algn="ctr"/>
            <a:r>
              <a:rPr lang="en-GB" b="1" dirty="0"/>
              <a:t>Computer Graphics (ICT Ed 466 )</a:t>
            </a:r>
            <a:br>
              <a:rPr lang="en-GB" dirty="0"/>
            </a:br>
            <a:r>
              <a:rPr lang="en-GB" b="1" dirty="0"/>
              <a:t>Case Study Report on LED and LCD Technologies</a:t>
            </a:r>
            <a:endParaRPr lang="en-GB" dirty="0"/>
          </a:p>
        </p:txBody>
      </p:sp>
      <p:sp>
        <p:nvSpPr>
          <p:cNvPr id="3" name="Content Placeholder 2">
            <a:extLst>
              <a:ext uri="{FF2B5EF4-FFF2-40B4-BE49-F238E27FC236}">
                <a16:creationId xmlns:a16="http://schemas.microsoft.com/office/drawing/2014/main" id="{47286350-D5D0-D5E9-7139-0C1F0678DA40}"/>
              </a:ext>
            </a:extLst>
          </p:cNvPr>
          <p:cNvSpPr>
            <a:spLocks noGrp="1"/>
          </p:cNvSpPr>
          <p:nvPr>
            <p:ph idx="1"/>
          </p:nvPr>
        </p:nvSpPr>
        <p:spPr>
          <a:xfrm>
            <a:off x="4441369" y="4496009"/>
            <a:ext cx="2323325" cy="2250024"/>
          </a:xfrm>
        </p:spPr>
        <p:txBody>
          <a:bodyPr>
            <a:noAutofit/>
          </a:bodyPr>
          <a:lstStyle/>
          <a:p>
            <a:pPr marL="0" indent="0">
              <a:buNone/>
            </a:pPr>
            <a:r>
              <a:rPr lang="en-GB" sz="2200" b="1" dirty="0"/>
              <a:t>Presented By:</a:t>
            </a:r>
          </a:p>
          <a:p>
            <a:pPr marL="0" indent="0">
              <a:buNone/>
            </a:pPr>
            <a:r>
              <a:rPr lang="en-GB" sz="2200" b="1" dirty="0"/>
              <a:t>Abishek Khawas</a:t>
            </a:r>
          </a:p>
          <a:p>
            <a:pPr marL="0" indent="0">
              <a:buNone/>
            </a:pPr>
            <a:r>
              <a:rPr lang="en-GB" sz="2200" b="1" dirty="0"/>
              <a:t>Shankar Khawas</a:t>
            </a:r>
          </a:p>
          <a:p>
            <a:pPr marL="0" indent="0">
              <a:buNone/>
            </a:pPr>
            <a:r>
              <a:rPr lang="en-GB" sz="2200" b="1" dirty="0"/>
              <a:t>Nirajan Subedi</a:t>
            </a:r>
          </a:p>
          <a:p>
            <a:pPr marL="0" indent="0">
              <a:buNone/>
            </a:pPr>
            <a:r>
              <a:rPr lang="en-GB" sz="2200" b="1" dirty="0"/>
              <a:t>Sudip Koyong</a:t>
            </a:r>
          </a:p>
        </p:txBody>
      </p:sp>
    </p:spTree>
    <p:extLst>
      <p:ext uri="{BB962C8B-B14F-4D97-AF65-F5344CB8AC3E}">
        <p14:creationId xmlns:p14="http://schemas.microsoft.com/office/powerpoint/2010/main" val="4080586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D298C-25F3-8EDC-EFDD-E3E77F559403}"/>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1. Introduction</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B1C377-3843-35D8-22C0-AA50283E4562}"/>
              </a:ext>
            </a:extLst>
          </p:cNvPr>
          <p:cNvSpPr>
            <a:spLocks noGrp="1"/>
          </p:cNvSpPr>
          <p:nvPr>
            <p:ph idx="1"/>
          </p:nvPr>
        </p:nvSpPr>
        <p:spPr/>
        <p:txBody>
          <a:bodyPr>
            <a:normAutofit/>
          </a:bodyPr>
          <a:lstStyle/>
          <a:p>
            <a:pPr marL="0" indent="0">
              <a:buNone/>
            </a:pPr>
            <a:r>
              <a:rPr lang="en-GB" sz="3000" dirty="0">
                <a:latin typeface="Times New Roman" panose="02020603050405020304" pitchFamily="18" charset="0"/>
                <a:cs typeface="Times New Roman" panose="02020603050405020304" pitchFamily="18" charset="0"/>
              </a:rPr>
              <a:t>Liquid Crystal Display (LCD) and Light Emitting Diode (LED) technologies are essential to modern electronic displays. They have transformed devices like TVs, monitors, and smartphones. This case study covers their basics, development, uses, and future potential. This report explores the fundamentals, development, applications, and future prospects of these technologies.</a:t>
            </a:r>
          </a:p>
        </p:txBody>
      </p:sp>
    </p:spTree>
    <p:extLst>
      <p:ext uri="{BB962C8B-B14F-4D97-AF65-F5344CB8AC3E}">
        <p14:creationId xmlns:p14="http://schemas.microsoft.com/office/powerpoint/2010/main" val="1460347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AB7CC-6881-E908-2686-6DDE0677BD1B}"/>
              </a:ext>
            </a:extLst>
          </p:cNvPr>
          <p:cNvSpPr>
            <a:spLocks noGrp="1"/>
          </p:cNvSpPr>
          <p:nvPr>
            <p:ph type="title"/>
          </p:nvPr>
        </p:nvSpPr>
        <p:spPr>
          <a:xfrm>
            <a:off x="838200" y="195943"/>
            <a:ext cx="10515600" cy="2024744"/>
          </a:xfrm>
        </p:spPr>
        <p:txBody>
          <a:bodyPr>
            <a:noAutofit/>
          </a:bodyPr>
          <a:lstStyle/>
          <a:p>
            <a:r>
              <a:rPr lang="en-GB" sz="2500" b="1" dirty="0">
                <a:latin typeface="Times New Roman" panose="02020603050405020304" pitchFamily="18" charset="0"/>
                <a:cs typeface="Times New Roman" panose="02020603050405020304" pitchFamily="18" charset="0"/>
              </a:rPr>
              <a:t>LCD Technology (Liquid Crystal Display)</a:t>
            </a:r>
            <a:r>
              <a:rPr lang="en-GB" sz="2500" dirty="0">
                <a:latin typeface="Times New Roman" panose="02020603050405020304" pitchFamily="18" charset="0"/>
                <a:cs typeface="Times New Roman" panose="02020603050405020304" pitchFamily="18" charset="0"/>
              </a:rPr>
              <a:t>:</a:t>
            </a:r>
            <a:br>
              <a:rPr lang="en-GB" sz="2500" dirty="0">
                <a:latin typeface="Times New Roman" panose="02020603050405020304" pitchFamily="18" charset="0"/>
                <a:cs typeface="Times New Roman" panose="02020603050405020304" pitchFamily="18" charset="0"/>
              </a:rPr>
            </a:br>
            <a:br>
              <a:rPr lang="en-GB" sz="2500" dirty="0">
                <a:latin typeface="Times New Roman" panose="02020603050405020304" pitchFamily="18" charset="0"/>
                <a:cs typeface="Times New Roman" panose="02020603050405020304" pitchFamily="18" charset="0"/>
              </a:rPr>
            </a:br>
            <a:r>
              <a:rPr lang="en-GB" sz="2500" dirty="0"/>
              <a:t>A Liquid Crystal Display is a flat-panel display technology that uses liquid crystals to modulate light. It is commonly used in televisions, computer monitors, smartphones, and many other electronic devices.</a:t>
            </a:r>
            <a:endParaRPr lang="en-GB" sz="2500" dirty="0">
              <a:latin typeface="Times New Roman" panose="02020603050405020304" pitchFamily="18" charset="0"/>
              <a:cs typeface="Times New Roman" panose="02020603050405020304" pitchFamily="18" charset="0"/>
            </a:endParaRPr>
          </a:p>
        </p:txBody>
      </p:sp>
      <p:pic>
        <p:nvPicPr>
          <p:cNvPr id="5" name="Content Placeholder 4" descr="Diagram of a mirror with different types of electronics&#10;&#10;Description automatically generated with medium confidence">
            <a:extLst>
              <a:ext uri="{FF2B5EF4-FFF2-40B4-BE49-F238E27FC236}">
                <a16:creationId xmlns:a16="http://schemas.microsoft.com/office/drawing/2014/main" id="{A89C0DF9-E8E0-46EE-412A-DA170BA313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2422783"/>
            <a:ext cx="5257801" cy="4351338"/>
          </a:xfrm>
        </p:spPr>
      </p:pic>
      <p:pic>
        <p:nvPicPr>
          <p:cNvPr id="8" name="Picture 7">
            <a:extLst>
              <a:ext uri="{FF2B5EF4-FFF2-40B4-BE49-F238E27FC236}">
                <a16:creationId xmlns:a16="http://schemas.microsoft.com/office/drawing/2014/main" id="{D3089588-0883-C1C6-6D24-2224FB21BE4B}"/>
              </a:ext>
            </a:extLst>
          </p:cNvPr>
          <p:cNvPicPr>
            <a:picLocks noChangeAspect="1"/>
          </p:cNvPicPr>
          <p:nvPr/>
        </p:nvPicPr>
        <p:blipFill>
          <a:blip r:embed="rId3"/>
          <a:stretch>
            <a:fillRect/>
          </a:stretch>
        </p:blipFill>
        <p:spPr>
          <a:xfrm>
            <a:off x="6336357" y="2422784"/>
            <a:ext cx="5017443" cy="4351338"/>
          </a:xfrm>
          <a:prstGeom prst="rect">
            <a:avLst/>
          </a:prstGeom>
        </p:spPr>
      </p:pic>
    </p:spTree>
    <p:extLst>
      <p:ext uri="{BB962C8B-B14F-4D97-AF65-F5344CB8AC3E}">
        <p14:creationId xmlns:p14="http://schemas.microsoft.com/office/powerpoint/2010/main" val="1129289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5092C-D637-2974-062A-A7B450874A96}"/>
              </a:ext>
            </a:extLst>
          </p:cNvPr>
          <p:cNvSpPr>
            <a:spLocks noGrp="1"/>
          </p:cNvSpPr>
          <p:nvPr>
            <p:ph type="title"/>
          </p:nvPr>
        </p:nvSpPr>
        <p:spPr>
          <a:xfrm>
            <a:off x="838200" y="365125"/>
            <a:ext cx="10515600" cy="1892883"/>
          </a:xfrm>
        </p:spPr>
        <p:txBody>
          <a:bodyPr>
            <a:noAutofit/>
          </a:bodyPr>
          <a:lstStyle/>
          <a:p>
            <a:r>
              <a:rPr lang="en-GB" sz="2300" b="1" dirty="0">
                <a:latin typeface="Times New Roman" panose="02020603050405020304" pitchFamily="18" charset="0"/>
                <a:cs typeface="Times New Roman" panose="02020603050405020304" pitchFamily="18" charset="0"/>
              </a:rPr>
              <a:t>LED (Light Emitting Diodes) Technology:</a:t>
            </a:r>
            <a:br>
              <a:rPr lang="en-GB" sz="2300" dirty="0">
                <a:latin typeface="Times New Roman" panose="02020603050405020304" pitchFamily="18" charset="0"/>
                <a:cs typeface="Times New Roman" panose="02020603050405020304" pitchFamily="18" charset="0"/>
              </a:rPr>
            </a:br>
            <a:br>
              <a:rPr lang="en-GB" sz="2300" dirty="0">
                <a:latin typeface="Times New Roman" panose="02020603050405020304" pitchFamily="18" charset="0"/>
                <a:cs typeface="Times New Roman" panose="02020603050405020304" pitchFamily="18" charset="0"/>
              </a:rPr>
            </a:br>
            <a:r>
              <a:rPr lang="en-GB" sz="2300" dirty="0">
                <a:latin typeface="Times New Roman" panose="02020603050405020304" pitchFamily="18" charset="0"/>
                <a:cs typeface="Times New Roman" panose="02020603050405020304" pitchFamily="18" charset="0"/>
              </a:rPr>
              <a:t>Utilizes Light Emitting Diodes (LEDs) either as standalone light sources (direct-view LED) or as backlighting for LED-backlit LCDs.</a:t>
            </a:r>
            <a:br>
              <a:rPr lang="en-GB" sz="2300" dirty="0">
                <a:latin typeface="Times New Roman" panose="02020603050405020304" pitchFamily="18" charset="0"/>
                <a:cs typeface="Times New Roman" panose="02020603050405020304" pitchFamily="18" charset="0"/>
              </a:rPr>
            </a:br>
            <a:r>
              <a:rPr lang="en-GB" sz="2300" dirty="0">
                <a:latin typeface="Times New Roman" panose="02020603050405020304" pitchFamily="18" charset="0"/>
                <a:cs typeface="Times New Roman" panose="02020603050405020304" pitchFamily="18" charset="0"/>
              </a:rPr>
              <a:t>Advances like Mini-LED and Micro-LED enhance brightness and contrast significantly.</a:t>
            </a:r>
            <a:br>
              <a:rPr lang="en-GB" sz="2300" dirty="0">
                <a:latin typeface="Times New Roman" panose="02020603050405020304" pitchFamily="18" charset="0"/>
                <a:cs typeface="Times New Roman" panose="02020603050405020304" pitchFamily="18" charset="0"/>
              </a:rPr>
            </a:br>
            <a:endParaRPr lang="en-GB" sz="2300" dirty="0">
              <a:latin typeface="Times New Roman" panose="02020603050405020304" pitchFamily="18" charset="0"/>
              <a:cs typeface="Times New Roman" panose="02020603050405020304" pitchFamily="18" charset="0"/>
            </a:endParaRPr>
          </a:p>
        </p:txBody>
      </p:sp>
      <p:pic>
        <p:nvPicPr>
          <p:cNvPr id="7" name="Picture 6" descr="A computer screen showing different types of optical sheets&#10;&#10;Description automatically generated">
            <a:extLst>
              <a:ext uri="{FF2B5EF4-FFF2-40B4-BE49-F238E27FC236}">
                <a16:creationId xmlns:a16="http://schemas.microsoft.com/office/drawing/2014/main" id="{D21C1342-AC00-955E-6335-CB9C11135B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1" y="2533052"/>
            <a:ext cx="5257799" cy="4133882"/>
          </a:xfrm>
          <a:prstGeom prst="rect">
            <a:avLst/>
          </a:prstGeom>
        </p:spPr>
      </p:pic>
      <p:pic>
        <p:nvPicPr>
          <p:cNvPr id="14" name="Content Placeholder 13" descr="Diagram of a diagram showing different types of led technology&#10;&#10;Description automatically generated">
            <a:extLst>
              <a:ext uri="{FF2B5EF4-FFF2-40B4-BE49-F238E27FC236}">
                <a16:creationId xmlns:a16="http://schemas.microsoft.com/office/drawing/2014/main" id="{3ACB4904-3070-DE37-1DCD-AEBBC988022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88719" y="2506662"/>
            <a:ext cx="4865080" cy="4351338"/>
          </a:xfrm>
        </p:spPr>
      </p:pic>
    </p:spTree>
    <p:extLst>
      <p:ext uri="{BB962C8B-B14F-4D97-AF65-F5344CB8AC3E}">
        <p14:creationId xmlns:p14="http://schemas.microsoft.com/office/powerpoint/2010/main" val="3017927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11B6-D0FB-0F68-E9CF-8E139BE79B98}"/>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3. Historical Development</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B86E84-FC2C-0696-0531-47F6FC0471BC}"/>
              </a:ext>
            </a:extLst>
          </p:cNvPr>
          <p:cNvSpPr>
            <a:spLocks noGrp="1"/>
          </p:cNvSpPr>
          <p:nvPr>
            <p:ph idx="1"/>
          </p:nvPr>
        </p:nvSpPr>
        <p:spPr/>
        <p:txBody>
          <a:bodyPr>
            <a:normAutofit/>
          </a:bodyPr>
          <a:lstStyle/>
          <a:p>
            <a:pPr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LCDs emerged in the 1960s, gaining popularity in the 1980s with advances in thin-film transistor (TFT) technology.</a:t>
            </a:r>
          </a:p>
          <a:p>
            <a:pPr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LEDs were developed earlier in the 1960s, but their integration into displays took shape in the 2000s, replacing CCFLs(</a:t>
            </a:r>
            <a:r>
              <a:rPr lang="en-GB" sz="2000" b="1" dirty="0"/>
              <a:t>Cold Cathode Fluorescent Lamp</a:t>
            </a:r>
            <a:r>
              <a:rPr lang="en-GB" sz="2000" dirty="0"/>
              <a:t>.</a:t>
            </a:r>
            <a:r>
              <a:rPr lang="en-GB" sz="2000" b="1" dirty="0"/>
              <a:t>)</a:t>
            </a:r>
            <a:r>
              <a:rPr lang="en-GB" sz="3000" dirty="0">
                <a:latin typeface="Times New Roman" panose="02020603050405020304" pitchFamily="18" charset="0"/>
                <a:cs typeface="Times New Roman" panose="02020603050405020304" pitchFamily="18" charset="0"/>
              </a:rPr>
              <a:t> in LCD backlighting.</a:t>
            </a:r>
          </a:p>
        </p:txBody>
      </p:sp>
    </p:spTree>
    <p:extLst>
      <p:ext uri="{BB962C8B-B14F-4D97-AF65-F5344CB8AC3E}">
        <p14:creationId xmlns:p14="http://schemas.microsoft.com/office/powerpoint/2010/main" val="2940216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FDEC-2A36-36DA-5FA2-8615F9BDDB59}"/>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4. Comparison of LCD and LED</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290C52-638B-D2CB-E623-31A05C5B7F48}"/>
              </a:ext>
            </a:extLst>
          </p:cNvPr>
          <p:cNvSpPr>
            <a:spLocks noGrp="1"/>
          </p:cNvSpPr>
          <p:nvPr>
            <p:ph idx="1"/>
          </p:nvPr>
        </p:nvSpPr>
        <p:spPr/>
        <p:txBody>
          <a:bodyPr>
            <a:normAutofit fontScale="92500" lnSpcReduction="20000"/>
          </a:bodyPr>
          <a:lstStyle/>
          <a:p>
            <a:pPr algn="just">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Picture Quality</a:t>
            </a:r>
            <a:r>
              <a:rPr lang="en-GB"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LED-backlit LCDs are better than traditional CCFL-backlit LCDs because they have higher contrast and brightness.</a:t>
            </a:r>
          </a:p>
          <a:p>
            <a:pPr marL="742950" lvl="1"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Direct-view LED displays provide superior image quality and colour accuracy.</a:t>
            </a:r>
          </a:p>
          <a:p>
            <a:pPr algn="just">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Energy Efficiency</a:t>
            </a:r>
            <a:r>
              <a:rPr lang="en-GB"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LEDs consume less power compared to CCFLs, making LED-backlit LCDs more energy-efficient.</a:t>
            </a:r>
          </a:p>
          <a:p>
            <a:pPr algn="just">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Lifespan and Durability</a:t>
            </a:r>
            <a:r>
              <a:rPr lang="en-GB"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LEDs have a longer lifespan and are more durable, with reduced susceptibility to burn-in compared to some LCD technologies.</a:t>
            </a:r>
          </a:p>
          <a:p>
            <a:pPr algn="just">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Cost</a:t>
            </a:r>
            <a:r>
              <a:rPr lang="en-GB"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LCDs are more cost-effective than LED displays, though the price gap is narrowing with technological advancements.</a:t>
            </a:r>
          </a:p>
        </p:txBody>
      </p:sp>
    </p:spTree>
    <p:extLst>
      <p:ext uri="{BB962C8B-B14F-4D97-AF65-F5344CB8AC3E}">
        <p14:creationId xmlns:p14="http://schemas.microsoft.com/office/powerpoint/2010/main" val="1245963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A1DC3-AE65-BB53-2252-504525AFE579}"/>
              </a:ext>
            </a:extLst>
          </p:cNvPr>
          <p:cNvSpPr>
            <a:spLocks noGrp="1"/>
          </p:cNvSpPr>
          <p:nvPr>
            <p:ph type="title"/>
          </p:nvPr>
        </p:nvSpPr>
        <p:spPr/>
        <p:txBody>
          <a:bodyPr/>
          <a:lstStyle/>
          <a:p>
            <a:r>
              <a:rPr lang="en-GB" b="1" dirty="0"/>
              <a:t>5. </a:t>
            </a:r>
            <a:r>
              <a:rPr lang="en-GB" b="1" dirty="0">
                <a:latin typeface="Times New Roman" panose="02020603050405020304" pitchFamily="18" charset="0"/>
                <a:cs typeface="Times New Roman" panose="02020603050405020304" pitchFamily="18" charset="0"/>
              </a:rPr>
              <a:t>Applications</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FB58E5-5878-9460-67E4-C8020B6716B5}"/>
              </a:ext>
            </a:extLst>
          </p:cNvPr>
          <p:cNvSpPr>
            <a:spLocks noGrp="1"/>
          </p:cNvSpPr>
          <p:nvPr>
            <p:ph idx="1"/>
          </p:nvPr>
        </p:nvSpPr>
        <p:spPr/>
        <p:txBody>
          <a:bodyPr>
            <a:normAutofit/>
          </a:bodyPr>
          <a:lstStyle/>
          <a:p>
            <a:pPr algn="just">
              <a:buFont typeface="Arial" panose="020B0604020202020204" pitchFamily="34" charset="0"/>
              <a:buChar char="•"/>
            </a:pPr>
            <a:r>
              <a:rPr lang="en-GB" sz="3000" b="1" dirty="0">
                <a:latin typeface="Times New Roman" panose="02020603050405020304" pitchFamily="18" charset="0"/>
                <a:cs typeface="Times New Roman" panose="02020603050405020304" pitchFamily="18" charset="0"/>
              </a:rPr>
              <a:t>LCDs</a:t>
            </a:r>
            <a:r>
              <a:rPr lang="en-GB" sz="3000"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Dominant in TVs, computer monitors, digital signage, and mobile devices.</a:t>
            </a:r>
          </a:p>
          <a:p>
            <a:pPr marL="742950" lvl="1" indent="-285750"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Affordable and versatile for general use.</a:t>
            </a:r>
          </a:p>
          <a:p>
            <a:pPr algn="just">
              <a:buFont typeface="Arial" panose="020B0604020202020204" pitchFamily="34" charset="0"/>
              <a:buChar char="•"/>
            </a:pPr>
            <a:r>
              <a:rPr lang="en-GB" sz="3000" b="1" dirty="0">
                <a:latin typeface="Times New Roman" panose="02020603050405020304" pitchFamily="18" charset="0"/>
                <a:cs typeface="Times New Roman" panose="02020603050405020304" pitchFamily="18" charset="0"/>
              </a:rPr>
              <a:t>LED Displays</a:t>
            </a:r>
            <a:r>
              <a:rPr lang="en-GB" sz="3000"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Widely used in outdoor signage, stadium displays, and premium televisions.</a:t>
            </a:r>
          </a:p>
          <a:p>
            <a:pPr marL="742950" lvl="1" indent="-285750"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Micro-LED displays are gaining traction in luxury applications due to their exceptional quality.</a:t>
            </a:r>
          </a:p>
        </p:txBody>
      </p:sp>
    </p:spTree>
    <p:extLst>
      <p:ext uri="{BB962C8B-B14F-4D97-AF65-F5344CB8AC3E}">
        <p14:creationId xmlns:p14="http://schemas.microsoft.com/office/powerpoint/2010/main" val="332363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9280-2601-3452-A868-C9C3C10EF50B}"/>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6. Technological Advancements</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89C983-05DA-D59E-9B2D-0C99C01ACAE7}"/>
              </a:ext>
            </a:extLst>
          </p:cNvPr>
          <p:cNvSpPr>
            <a:spLocks noGrp="1"/>
          </p:cNvSpPr>
          <p:nvPr>
            <p:ph idx="1"/>
          </p:nvPr>
        </p:nvSpPr>
        <p:spPr/>
        <p:txBody>
          <a:bodyPr>
            <a:normAutofit/>
          </a:bodyPr>
          <a:lstStyle/>
          <a:p>
            <a:pPr algn="just">
              <a:buFont typeface="Arial" panose="020B0604020202020204" pitchFamily="34" charset="0"/>
              <a:buChar char="•"/>
            </a:pPr>
            <a:r>
              <a:rPr lang="en-GB" sz="3000" b="1" dirty="0">
                <a:latin typeface="Times New Roman" panose="02020603050405020304" pitchFamily="18" charset="0"/>
                <a:cs typeface="Times New Roman" panose="02020603050405020304" pitchFamily="18" charset="0"/>
              </a:rPr>
              <a:t>Quantum Dot Technology</a:t>
            </a:r>
            <a:r>
              <a:rPr lang="en-GB" sz="3000"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Enhances colour reproduction and efficiency in both LCD and LED systems.</a:t>
            </a:r>
          </a:p>
          <a:p>
            <a:pPr algn="just">
              <a:buFont typeface="Arial" panose="020B0604020202020204" pitchFamily="34" charset="0"/>
              <a:buChar char="•"/>
            </a:pPr>
            <a:r>
              <a:rPr lang="en-GB" sz="3000" b="1" dirty="0">
                <a:latin typeface="Times New Roman" panose="02020603050405020304" pitchFamily="18" charset="0"/>
                <a:cs typeface="Times New Roman" panose="02020603050405020304" pitchFamily="18" charset="0"/>
              </a:rPr>
              <a:t>Mini-LED and Micro-LED</a:t>
            </a:r>
            <a:r>
              <a:rPr lang="en-GB" sz="3000"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Provide finer control over brightness and contrast, improving image quality.</a:t>
            </a:r>
          </a:p>
          <a:p>
            <a:pPr algn="just">
              <a:buFont typeface="Arial" panose="020B0604020202020204" pitchFamily="34" charset="0"/>
              <a:buChar char="•"/>
            </a:pPr>
            <a:r>
              <a:rPr lang="en-GB" sz="3000" b="1" dirty="0">
                <a:latin typeface="Times New Roman" panose="02020603050405020304" pitchFamily="18" charset="0"/>
                <a:cs typeface="Times New Roman" panose="02020603050405020304" pitchFamily="18" charset="0"/>
              </a:rPr>
              <a:t>OLED vs. LED</a:t>
            </a:r>
            <a:r>
              <a:rPr lang="en-GB" sz="3000"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Organic Light Emitting Diodes (OLEDs) are emerging as a competitor, offering better contrast but at higher costs.</a:t>
            </a:r>
          </a:p>
        </p:txBody>
      </p:sp>
    </p:spTree>
    <p:extLst>
      <p:ext uri="{BB962C8B-B14F-4D97-AF65-F5344CB8AC3E}">
        <p14:creationId xmlns:p14="http://schemas.microsoft.com/office/powerpoint/2010/main" val="890898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9CF1-CE3C-D863-D0B2-A3E5AA28B6DD}"/>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7. Visual Comparisons</a:t>
            </a:r>
            <a:endParaRPr lang="en-GB"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19A99A2A-4A3B-D64E-1FD7-54744483A20C}"/>
              </a:ext>
            </a:extLst>
          </p:cNvPr>
          <p:cNvGraphicFramePr>
            <a:graphicFrameLocks noGrp="1"/>
          </p:cNvGraphicFramePr>
          <p:nvPr>
            <p:ph idx="1"/>
            <p:extLst>
              <p:ext uri="{D42A27DB-BD31-4B8C-83A1-F6EECF244321}">
                <p14:modId xmlns:p14="http://schemas.microsoft.com/office/powerpoint/2010/main" val="2245006368"/>
              </p:ext>
            </p:extLst>
          </p:nvPr>
        </p:nvGraphicFramePr>
        <p:xfrm>
          <a:off x="838200" y="1825625"/>
          <a:ext cx="10515597" cy="37490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619984660"/>
                    </a:ext>
                  </a:extLst>
                </a:gridCol>
                <a:gridCol w="3505199">
                  <a:extLst>
                    <a:ext uri="{9D8B030D-6E8A-4147-A177-3AD203B41FA5}">
                      <a16:colId xmlns:a16="http://schemas.microsoft.com/office/drawing/2014/main" val="293850057"/>
                    </a:ext>
                  </a:extLst>
                </a:gridCol>
                <a:gridCol w="3505199">
                  <a:extLst>
                    <a:ext uri="{9D8B030D-6E8A-4147-A177-3AD203B41FA5}">
                      <a16:colId xmlns:a16="http://schemas.microsoft.com/office/drawing/2014/main" val="2043227232"/>
                    </a:ext>
                  </a:extLst>
                </a:gridCol>
              </a:tblGrid>
              <a:tr h="370840">
                <a:tc>
                  <a:txBody>
                    <a:bodyPr/>
                    <a:lstStyle/>
                    <a:p>
                      <a:r>
                        <a:rPr lang="en-GB" sz="3000" dirty="0">
                          <a:latin typeface="Times New Roman" panose="02020603050405020304" pitchFamily="18" charset="0"/>
                          <a:cs typeface="Times New Roman" panose="02020603050405020304" pitchFamily="18" charset="0"/>
                        </a:rPr>
                        <a:t>Feature</a:t>
                      </a:r>
                    </a:p>
                  </a:txBody>
                  <a:tcPr anchor="ctr"/>
                </a:tc>
                <a:tc>
                  <a:txBody>
                    <a:bodyPr/>
                    <a:lstStyle/>
                    <a:p>
                      <a:r>
                        <a:rPr lang="en-GB" sz="3000" dirty="0">
                          <a:latin typeface="Times New Roman" panose="02020603050405020304" pitchFamily="18" charset="0"/>
                          <a:cs typeface="Times New Roman" panose="02020603050405020304" pitchFamily="18" charset="0"/>
                        </a:rPr>
                        <a:t>LCD</a:t>
                      </a:r>
                    </a:p>
                  </a:txBody>
                  <a:tcPr anchor="ctr"/>
                </a:tc>
                <a:tc>
                  <a:txBody>
                    <a:bodyPr/>
                    <a:lstStyle/>
                    <a:p>
                      <a:r>
                        <a:rPr lang="en-GB" sz="3000" dirty="0">
                          <a:latin typeface="Times New Roman" panose="02020603050405020304" pitchFamily="18" charset="0"/>
                          <a:cs typeface="Times New Roman" panose="02020603050405020304" pitchFamily="18" charset="0"/>
                        </a:rPr>
                        <a:t>LED</a:t>
                      </a:r>
                    </a:p>
                  </a:txBody>
                  <a:tcPr anchor="ctr"/>
                </a:tc>
                <a:extLst>
                  <a:ext uri="{0D108BD9-81ED-4DB2-BD59-A6C34878D82A}">
                    <a16:rowId xmlns:a16="http://schemas.microsoft.com/office/drawing/2014/main" val="2772121355"/>
                  </a:ext>
                </a:extLst>
              </a:tr>
              <a:tr h="370840">
                <a:tc>
                  <a:txBody>
                    <a:bodyPr/>
                    <a:lstStyle/>
                    <a:p>
                      <a:r>
                        <a:rPr lang="en-GB" sz="3000" dirty="0">
                          <a:latin typeface="Times New Roman" panose="02020603050405020304" pitchFamily="18" charset="0"/>
                          <a:cs typeface="Times New Roman" panose="02020603050405020304" pitchFamily="18" charset="0"/>
                        </a:rPr>
                        <a:t>Backlighting</a:t>
                      </a:r>
                    </a:p>
                  </a:txBody>
                  <a:tcPr anchor="ctr"/>
                </a:tc>
                <a:tc>
                  <a:txBody>
                    <a:bodyPr/>
                    <a:lstStyle/>
                    <a:p>
                      <a:r>
                        <a:rPr lang="en-GB" sz="3000" dirty="0">
                          <a:latin typeface="Times New Roman" panose="02020603050405020304" pitchFamily="18" charset="0"/>
                          <a:cs typeface="Times New Roman" panose="02020603050405020304" pitchFamily="18" charset="0"/>
                        </a:rPr>
                        <a:t>CCFL or LED</a:t>
                      </a:r>
                    </a:p>
                  </a:txBody>
                  <a:tcPr anchor="ctr"/>
                </a:tc>
                <a:tc>
                  <a:txBody>
                    <a:bodyPr/>
                    <a:lstStyle/>
                    <a:p>
                      <a:r>
                        <a:rPr lang="en-GB" sz="3000" dirty="0">
                          <a:latin typeface="Times New Roman" panose="02020603050405020304" pitchFamily="18" charset="0"/>
                          <a:cs typeface="Times New Roman" panose="02020603050405020304" pitchFamily="18" charset="0"/>
                        </a:rPr>
                        <a:t>LED or self-illuminating</a:t>
                      </a:r>
                    </a:p>
                  </a:txBody>
                  <a:tcPr anchor="ctr"/>
                </a:tc>
                <a:extLst>
                  <a:ext uri="{0D108BD9-81ED-4DB2-BD59-A6C34878D82A}">
                    <a16:rowId xmlns:a16="http://schemas.microsoft.com/office/drawing/2014/main" val="2906866121"/>
                  </a:ext>
                </a:extLst>
              </a:tr>
              <a:tr h="370840">
                <a:tc>
                  <a:txBody>
                    <a:bodyPr/>
                    <a:lstStyle/>
                    <a:p>
                      <a:r>
                        <a:rPr lang="en-GB" sz="3000" dirty="0">
                          <a:latin typeface="Times New Roman" panose="02020603050405020304" pitchFamily="18" charset="0"/>
                          <a:cs typeface="Times New Roman" panose="02020603050405020304" pitchFamily="18" charset="0"/>
                        </a:rPr>
                        <a:t>Picture Quality</a:t>
                      </a:r>
                    </a:p>
                  </a:txBody>
                  <a:tcPr anchor="ctr"/>
                </a:tc>
                <a:tc>
                  <a:txBody>
                    <a:bodyPr/>
                    <a:lstStyle/>
                    <a:p>
                      <a:r>
                        <a:rPr lang="en-GB" sz="3000" dirty="0">
                          <a:latin typeface="Times New Roman" panose="02020603050405020304" pitchFamily="18" charset="0"/>
                          <a:cs typeface="Times New Roman" panose="02020603050405020304" pitchFamily="18" charset="0"/>
                        </a:rPr>
                        <a:t>Good</a:t>
                      </a:r>
                    </a:p>
                  </a:txBody>
                  <a:tcPr anchor="ctr"/>
                </a:tc>
                <a:tc>
                  <a:txBody>
                    <a:bodyPr/>
                    <a:lstStyle/>
                    <a:p>
                      <a:r>
                        <a:rPr lang="en-GB" sz="3000" dirty="0">
                          <a:latin typeface="Times New Roman" panose="02020603050405020304" pitchFamily="18" charset="0"/>
                          <a:cs typeface="Times New Roman" panose="02020603050405020304" pitchFamily="18" charset="0"/>
                        </a:rPr>
                        <a:t>Excellent</a:t>
                      </a:r>
                    </a:p>
                  </a:txBody>
                  <a:tcPr anchor="ctr"/>
                </a:tc>
                <a:extLst>
                  <a:ext uri="{0D108BD9-81ED-4DB2-BD59-A6C34878D82A}">
                    <a16:rowId xmlns:a16="http://schemas.microsoft.com/office/drawing/2014/main" val="3908995641"/>
                  </a:ext>
                </a:extLst>
              </a:tr>
              <a:tr h="370840">
                <a:tc>
                  <a:txBody>
                    <a:bodyPr/>
                    <a:lstStyle/>
                    <a:p>
                      <a:r>
                        <a:rPr lang="en-GB" sz="3000" dirty="0">
                          <a:latin typeface="Times New Roman" panose="02020603050405020304" pitchFamily="18" charset="0"/>
                          <a:cs typeface="Times New Roman" panose="02020603050405020304" pitchFamily="18" charset="0"/>
                        </a:rPr>
                        <a:t>Energy Consumption</a:t>
                      </a:r>
                    </a:p>
                  </a:txBody>
                  <a:tcPr anchor="ctr"/>
                </a:tc>
                <a:tc>
                  <a:txBody>
                    <a:bodyPr/>
                    <a:lstStyle/>
                    <a:p>
                      <a:r>
                        <a:rPr lang="en-GB" sz="3000" dirty="0">
                          <a:latin typeface="Times New Roman" panose="02020603050405020304" pitchFamily="18" charset="0"/>
                          <a:cs typeface="Times New Roman" panose="02020603050405020304" pitchFamily="18" charset="0"/>
                        </a:rPr>
                        <a:t>Moderate</a:t>
                      </a:r>
                    </a:p>
                  </a:txBody>
                  <a:tcPr anchor="ctr"/>
                </a:tc>
                <a:tc>
                  <a:txBody>
                    <a:bodyPr/>
                    <a:lstStyle/>
                    <a:p>
                      <a:r>
                        <a:rPr lang="en-GB" sz="3000" dirty="0">
                          <a:latin typeface="Times New Roman" panose="02020603050405020304" pitchFamily="18" charset="0"/>
                          <a:cs typeface="Times New Roman" panose="02020603050405020304" pitchFamily="18" charset="0"/>
                        </a:rPr>
                        <a:t>Low</a:t>
                      </a:r>
                    </a:p>
                  </a:txBody>
                  <a:tcPr anchor="ctr"/>
                </a:tc>
                <a:extLst>
                  <a:ext uri="{0D108BD9-81ED-4DB2-BD59-A6C34878D82A}">
                    <a16:rowId xmlns:a16="http://schemas.microsoft.com/office/drawing/2014/main" val="280102474"/>
                  </a:ext>
                </a:extLst>
              </a:tr>
              <a:tr h="370840">
                <a:tc>
                  <a:txBody>
                    <a:bodyPr/>
                    <a:lstStyle/>
                    <a:p>
                      <a:r>
                        <a:rPr lang="en-GB" sz="3000" dirty="0">
                          <a:latin typeface="Times New Roman" panose="02020603050405020304" pitchFamily="18" charset="0"/>
                          <a:cs typeface="Times New Roman" panose="02020603050405020304" pitchFamily="18" charset="0"/>
                        </a:rPr>
                        <a:t>Durability</a:t>
                      </a:r>
                    </a:p>
                  </a:txBody>
                  <a:tcPr anchor="ctr"/>
                </a:tc>
                <a:tc>
                  <a:txBody>
                    <a:bodyPr/>
                    <a:lstStyle/>
                    <a:p>
                      <a:r>
                        <a:rPr lang="en-GB" sz="3000" dirty="0">
                          <a:latin typeface="Times New Roman" panose="02020603050405020304" pitchFamily="18" charset="0"/>
                          <a:cs typeface="Times New Roman" panose="02020603050405020304" pitchFamily="18" charset="0"/>
                        </a:rPr>
                        <a:t>Moderate</a:t>
                      </a:r>
                    </a:p>
                  </a:txBody>
                  <a:tcPr anchor="ctr"/>
                </a:tc>
                <a:tc>
                  <a:txBody>
                    <a:bodyPr/>
                    <a:lstStyle/>
                    <a:p>
                      <a:r>
                        <a:rPr lang="en-GB" sz="3000" dirty="0">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2704074016"/>
                  </a:ext>
                </a:extLst>
              </a:tr>
              <a:tr h="370840">
                <a:tc>
                  <a:txBody>
                    <a:bodyPr/>
                    <a:lstStyle/>
                    <a:p>
                      <a:r>
                        <a:rPr lang="en-GB" sz="3000" dirty="0">
                          <a:latin typeface="Times New Roman" panose="02020603050405020304" pitchFamily="18" charset="0"/>
                          <a:cs typeface="Times New Roman" panose="02020603050405020304" pitchFamily="18" charset="0"/>
                        </a:rPr>
                        <a:t>Cost</a:t>
                      </a:r>
                    </a:p>
                  </a:txBody>
                  <a:tcPr anchor="ctr"/>
                </a:tc>
                <a:tc>
                  <a:txBody>
                    <a:bodyPr/>
                    <a:lstStyle/>
                    <a:p>
                      <a:r>
                        <a:rPr lang="en-GB" sz="3000" dirty="0">
                          <a:latin typeface="Times New Roman" panose="02020603050405020304" pitchFamily="18" charset="0"/>
                          <a:cs typeface="Times New Roman" panose="02020603050405020304" pitchFamily="18" charset="0"/>
                        </a:rPr>
                        <a:t>Lower</a:t>
                      </a:r>
                    </a:p>
                  </a:txBody>
                  <a:tcPr anchor="ctr"/>
                </a:tc>
                <a:tc>
                  <a:txBody>
                    <a:bodyPr/>
                    <a:lstStyle/>
                    <a:p>
                      <a:r>
                        <a:rPr lang="en-GB" sz="3000" dirty="0">
                          <a:latin typeface="Times New Roman" panose="02020603050405020304" pitchFamily="18" charset="0"/>
                          <a:cs typeface="Times New Roman" panose="02020603050405020304" pitchFamily="18" charset="0"/>
                        </a:rPr>
                        <a:t>Higher</a:t>
                      </a:r>
                    </a:p>
                  </a:txBody>
                  <a:tcPr anchor="ctr"/>
                </a:tc>
                <a:extLst>
                  <a:ext uri="{0D108BD9-81ED-4DB2-BD59-A6C34878D82A}">
                    <a16:rowId xmlns:a16="http://schemas.microsoft.com/office/drawing/2014/main" val="3854107832"/>
                  </a:ext>
                </a:extLst>
              </a:tr>
            </a:tbl>
          </a:graphicData>
        </a:graphic>
      </p:graphicFrame>
    </p:spTree>
    <p:extLst>
      <p:ext uri="{BB962C8B-B14F-4D97-AF65-F5344CB8AC3E}">
        <p14:creationId xmlns:p14="http://schemas.microsoft.com/office/powerpoint/2010/main" val="3542167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8CBB6-F95E-837E-933E-78DDC8C379DE}"/>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8. Future Prospects</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8654547-3D76-BDB7-AB30-99BE05E626C4}"/>
              </a:ext>
            </a:extLst>
          </p:cNvPr>
          <p:cNvSpPr>
            <a:spLocks noGrp="1"/>
          </p:cNvSpPr>
          <p:nvPr>
            <p:ph idx="1"/>
          </p:nvPr>
        </p:nvSpPr>
        <p:spPr/>
        <p:txBody>
          <a:bodyPr>
            <a:normAutofit/>
          </a:bodyPr>
          <a:lstStyle/>
          <a:p>
            <a:pPr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The integration of AI and IoT in displays will enable smart functionality.</a:t>
            </a:r>
          </a:p>
          <a:p>
            <a:pPr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Continued development in Micro-LED technology promises higher efficiency and better scalability.</a:t>
            </a:r>
          </a:p>
          <a:p>
            <a:pPr algn="just">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Research into reducing production costs aims to make high-end displays more accessible.</a:t>
            </a:r>
          </a:p>
        </p:txBody>
      </p:sp>
    </p:spTree>
    <p:extLst>
      <p:ext uri="{BB962C8B-B14F-4D97-AF65-F5344CB8AC3E}">
        <p14:creationId xmlns:p14="http://schemas.microsoft.com/office/powerpoint/2010/main" val="194603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0D524-21FB-B908-7956-AB1DE79139AF}"/>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9. Conclusion</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EB5749-2BE0-1B05-F361-E21F4F09B3D9}"/>
              </a:ext>
            </a:extLst>
          </p:cNvPr>
          <p:cNvSpPr>
            <a:spLocks noGrp="1"/>
          </p:cNvSpPr>
          <p:nvPr>
            <p:ph idx="1"/>
          </p:nvPr>
        </p:nvSpPr>
        <p:spPr/>
        <p:txBody>
          <a:bodyPr>
            <a:normAutofit/>
          </a:bodyPr>
          <a:lstStyle/>
          <a:p>
            <a:pPr marL="0" indent="0" algn="just">
              <a:buNone/>
            </a:pPr>
            <a:r>
              <a:rPr lang="en-GB" sz="3000" dirty="0">
                <a:latin typeface="Times New Roman" panose="02020603050405020304" pitchFamily="18" charset="0"/>
                <a:cs typeface="Times New Roman" panose="02020603050405020304" pitchFamily="18" charset="0"/>
              </a:rPr>
              <a:t>Both LCD and LED technologies have transformed the display industry, with distinct strengths catering to various applications. Advancements in quantum dots, Mini-LED, and Micro-LED technologies will shape their evolution, ensuring their relevance in a rapidly advancing digital world.</a:t>
            </a:r>
          </a:p>
        </p:txBody>
      </p:sp>
    </p:spTree>
    <p:extLst>
      <p:ext uri="{BB962C8B-B14F-4D97-AF65-F5344CB8AC3E}">
        <p14:creationId xmlns:p14="http://schemas.microsoft.com/office/powerpoint/2010/main" val="91800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8310-4888-514C-562A-5BF2CC8F107B}"/>
              </a:ext>
            </a:extLst>
          </p:cNvPr>
          <p:cNvSpPr>
            <a:spLocks noGrp="1"/>
          </p:cNvSpPr>
          <p:nvPr>
            <p:ph type="title"/>
          </p:nvPr>
        </p:nvSpPr>
        <p:spPr>
          <a:xfrm>
            <a:off x="838200" y="2289422"/>
            <a:ext cx="10515600" cy="2279156"/>
          </a:xfrm>
        </p:spPr>
        <p:txBody>
          <a:bodyPr>
            <a:normAutofit/>
          </a:bodyPr>
          <a:lstStyle/>
          <a:p>
            <a:pPr algn="ctr"/>
            <a:br>
              <a:rPr lang="en-GB" sz="6500" dirty="0"/>
            </a:br>
            <a:r>
              <a:rPr lang="en-GB" sz="6500" dirty="0"/>
              <a:t>Thank You</a:t>
            </a:r>
          </a:p>
        </p:txBody>
      </p:sp>
    </p:spTree>
    <p:extLst>
      <p:ext uri="{BB962C8B-B14F-4D97-AF65-F5344CB8AC3E}">
        <p14:creationId xmlns:p14="http://schemas.microsoft.com/office/powerpoint/2010/main" val="4272558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
  <TotalTime>212</TotalTime>
  <Words>578</Words>
  <Application>Microsoft Office PowerPoint</Application>
  <PresentationFormat>Widescreen</PresentationFormat>
  <Paragraphs>63</Paragraphs>
  <Slides>12</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12</vt:i4>
      </vt:variant>
    </vt:vector>
  </HeadingPairs>
  <TitlesOfParts>
    <vt:vector size="21" baseType="lpstr">
      <vt:lpstr>Aptos</vt:lpstr>
      <vt:lpstr>Aptos Display</vt:lpstr>
      <vt:lpstr>Arial</vt:lpstr>
      <vt:lpstr>Times New Roman</vt:lpstr>
      <vt:lpstr>Trebuchet MS</vt:lpstr>
      <vt:lpstr>Wingdings 3</vt:lpstr>
      <vt:lpstr>Office Theme</vt:lpstr>
      <vt:lpstr>Facet</vt:lpstr>
      <vt:lpstr>1_Facet</vt:lpstr>
      <vt:lpstr>Computer Graphics (ICT Ed 466 ) Case Study Report on LED and LCD Technologies</vt:lpstr>
      <vt:lpstr>1. Introduction</vt:lpstr>
      <vt:lpstr>LCD Technology (Liquid Crystal Display):  A Liquid Crystal Display is a flat-panel display technology that uses liquid crystals to modulate light. It is commonly used in televisions, computer monitors, smartphones, and many other electronic devices.</vt:lpstr>
      <vt:lpstr>LED (Light Emitting Diodes) Technology:  Utilizes Light Emitting Diodes (LEDs) either as standalone light sources (direct-view LED) or as backlighting for LED-backlit LCDs. Advances like Mini-LED and Micro-LED enhance brightness and contrast significantly. </vt:lpstr>
      <vt:lpstr>3. Historical Development</vt:lpstr>
      <vt:lpstr>4. Comparison of LCD and LED</vt:lpstr>
      <vt:lpstr>5. Applications</vt:lpstr>
      <vt:lpstr>6. Technological Advancements</vt:lpstr>
      <vt:lpstr>7. Visual Comparisons</vt:lpstr>
      <vt:lpstr>8. Future Prospects</vt:lpstr>
      <vt:lpstr>9. 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Abishek Khawas</dc:creator>
  <cp:lastModifiedBy>Abishek Khawas</cp:lastModifiedBy>
  <cp:revision>12</cp:revision>
  <dcterms:created xsi:type="dcterms:W3CDTF">2024-12-21T15:25:00Z</dcterms:created>
  <dcterms:modified xsi:type="dcterms:W3CDTF">2024-12-23T02:29:22Z</dcterms:modified>
</cp:coreProperties>
</file>