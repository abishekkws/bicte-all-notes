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59.png" ContentType="image/png"/>
  <Override PartName="/ppt/media/image3.png" ContentType="image/png"/>
  <Override PartName="/ppt/media/image4.png" ContentType="image/png"/>
  <Override PartName="/ppt/media/image70.png" ContentType="image/png"/>
  <Override PartName="/ppt/media/image71.png" ContentType="image/png"/>
  <Override PartName="/ppt/media/image5.png" ContentType="image/png"/>
  <Override PartName="/ppt/media/image72.png" ContentType="image/png"/>
  <Override PartName="/ppt/media/image6.png" ContentType="image/png"/>
  <Override PartName="/ppt/media/image73.png" ContentType="image/png"/>
  <Override PartName="/ppt/media/image7.png" ContentType="image/png"/>
  <Override PartName="/ppt/media/image74.png" ContentType="image/png"/>
  <Override PartName="/ppt/media/image8.png" ContentType="image/png"/>
  <Override PartName="/ppt/media/image75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100.png" ContentType="image/png"/>
  <Override PartName="/ppt/media/image28.png" ContentType="image/png"/>
  <Override PartName="/ppt/media/image101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110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media/image76.png" ContentType="image/png"/>
  <Override PartName="/ppt/media/image77.png" ContentType="image/png"/>
  <Override PartName="/ppt/media/image78.png" ContentType="image/png"/>
  <Override PartName="/ppt/media/image79.png" ContentType="image/png"/>
  <Override PartName="/ppt/media/image80.png" ContentType="image/png"/>
  <Override PartName="/ppt/media/image81.png" ContentType="image/png"/>
  <Override PartName="/ppt/media/image82.png" ContentType="image/png"/>
  <Override PartName="/ppt/media/image83.png" ContentType="image/png"/>
  <Override PartName="/ppt/media/image84.png" ContentType="image/png"/>
  <Override PartName="/ppt/media/image85.png" ContentType="image/png"/>
  <Override PartName="/ppt/media/image86.png" ContentType="image/png"/>
  <Override PartName="/ppt/media/image87.png" ContentType="image/png"/>
  <Override PartName="/ppt/media/image88.png" ContentType="image/png"/>
  <Override PartName="/ppt/media/image89.png" ContentType="image/png"/>
  <Override PartName="/ppt/media/image90.png" ContentType="image/png"/>
  <Override PartName="/ppt/media/image91.png" ContentType="image/png"/>
  <Override PartName="/ppt/media/image92.png" ContentType="image/png"/>
  <Override PartName="/ppt/media/image93.png" ContentType="image/png"/>
  <Override PartName="/ppt/media/image94.png" ContentType="image/png"/>
  <Override PartName="/ppt/media/image95.png" ContentType="image/png"/>
  <Override PartName="/ppt/media/image96.png" ContentType="image/png"/>
  <Override PartName="/ppt/media/image97.png" ContentType="image/png"/>
  <Override PartName="/ppt/media/image98.png" ContentType="image/png"/>
  <Override PartName="/ppt/media/image99.png" ContentType="image/png"/>
  <Override PartName="/ppt/media/image102.png" ContentType="image/png"/>
  <Override PartName="/ppt/media/image103.png" ContentType="image/png"/>
  <Override PartName="/ppt/media/image104.png" ContentType="image/png"/>
  <Override PartName="/ppt/media/image105.png" ContentType="image/png"/>
  <Override PartName="/ppt/media/image106.png" ContentType="image/png"/>
  <Override PartName="/ppt/media/image107.png" ContentType="image/png"/>
  <Override PartName="/ppt/media/image108.png" ContentType="image/png"/>
  <Override PartName="/ppt/media/image10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FB86F7-EBF2-45F6-AD40-E1B306B255F7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DB4BEC-89B3-406B-8FEF-C06F8C2196C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4B9B8-F625-4052-9D71-8221ECC6A2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1402BD-D04B-413D-9002-7D965F67CA0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035656-EEBF-4B70-A42E-136C8A09E2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854B2E-A748-44B4-9B3F-9DBFE866BF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EE9928-3081-479F-B066-E803E6C2333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008C13-CF16-4218-953C-B7AFBD67A2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94ADF2-7F2E-4EE6-9789-72000BC598F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944D2-F7C0-44B6-AE04-C9B1B984B13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E70A7A-3B4A-4D7F-94A8-ACAC923F12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626353-BBA8-486D-A071-404576024BF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5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Relationship Id="rId18" Type="http://schemas.openxmlformats.org/officeDocument/2006/relationships/image" Target="../media/image66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 1" descr="preencoded.png"/>
          <p:cNvPicPr/>
          <p:nvPr/>
        </p:nvPicPr>
        <p:blipFill>
          <a:blip r:embed="rId3"/>
          <a:stretch/>
        </p:blipFill>
        <p:spPr>
          <a:xfrm>
            <a:off x="0" y="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Image 2" descr="preencoded.png"/>
          <p:cNvPicPr/>
          <p:nvPr/>
        </p:nvPicPr>
        <p:blipFill>
          <a:blip r:embed="rId4"/>
          <a:stretch/>
        </p:blipFill>
        <p:spPr>
          <a:xfrm>
            <a:off x="609480" y="4762440"/>
            <a:ext cx="10972440" cy="14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4639680" y="609480"/>
            <a:ext cx="29120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pc="119" strike="noStrike" u="none">
                <a:solidFill>
                  <a:srgbClr val="134e4a"/>
                </a:solidFill>
                <a:effectLst/>
                <a:uFillTx/>
                <a:latin typeface="ui-sans-serif"/>
                <a:ea typeface="ui-sans-serif"/>
              </a:rPr>
              <a:t>SUKUNA MULTIPLE CAMPUS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4348440" y="1143000"/>
            <a:ext cx="3494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0f766e"/>
                </a:solidFill>
                <a:effectLst/>
                <a:uFillTx/>
                <a:latin typeface="ui-sans-serif"/>
                <a:ea typeface="ui-sans-serif"/>
              </a:rPr>
              <a:t>Tribhuvan University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90720" y="1371600"/>
            <a:ext cx="10210320" cy="28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624"/>
              </a:lnSpc>
              <a:tabLst>
                <a:tab algn="l" pos="0"/>
              </a:tabLst>
            </a:pPr>
            <a:r>
              <a:rPr b="1" lang="en-US" sz="4500" strike="noStrike" u="none">
                <a:solidFill>
                  <a:srgbClr val="134e4a"/>
                </a:solidFill>
                <a:effectLst/>
                <a:uFillTx/>
                <a:latin typeface="ui-sans-serif"/>
                <a:ea typeface="ui-sans-serif"/>
              </a:rPr>
              <a:t>Impact of Artificial Intelligence (AI) Tools on Students' Learning and Academic Integrity</a:t>
            </a:r>
            <a:endParaRPr b="0" lang="en-GB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09480" y="5219640"/>
            <a:ext cx="5257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43" strike="noStrike" u="none">
                <a:solidFill>
                  <a:srgbClr val="065f46"/>
                </a:solidFill>
                <a:effectLst/>
                <a:uFillTx/>
                <a:latin typeface="ui-sans-serif"/>
                <a:ea typeface="ui-sans-serif"/>
              </a:rPr>
              <a:t>PRESENTED BY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09480" y="5486400"/>
            <a:ext cx="5257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ui-sans-serif"/>
                <a:ea typeface="ui-sans-serif"/>
              </a:rPr>
              <a:t>Abishek Khawas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09480" y="579132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ui-sans-serif"/>
                <a:ea typeface="ui-sans-serif"/>
              </a:rPr>
              <a:t>Roll No: 78214004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609480" y="6019920"/>
            <a:ext cx="6309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ui-sans-serif"/>
                <a:ea typeface="ui-sans-serif"/>
              </a:rPr>
              <a:t>Regd No: 9-2-214-36-2021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0080000" y="5209920"/>
            <a:ext cx="1232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43" strike="noStrike" u="none">
                <a:solidFill>
                  <a:srgbClr val="065f46"/>
                </a:solidFill>
                <a:effectLst/>
                <a:uFillTx/>
                <a:latin typeface="ui-sans-serif"/>
                <a:ea typeface="ui-sans-serif"/>
              </a:rPr>
              <a:t>SUPERVISOR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9992880" y="5486400"/>
            <a:ext cx="188712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f172a"/>
                </a:solidFill>
                <a:effectLst/>
                <a:uFillTx/>
                <a:latin typeface="ui-sans-serif"/>
                <a:ea typeface="ui-sans-serif"/>
              </a:rPr>
              <a:t>Mr. Biplab Dhakal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9992880" y="5843160"/>
            <a:ext cx="1501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ui-sans-serif"/>
                <a:ea typeface="ui-sans-serif"/>
              </a:rPr>
              <a:t>Faculty Member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Image 2" descr="preencoded.png"/>
          <p:cNvPicPr/>
          <p:nvPr/>
        </p:nvPicPr>
        <p:blipFill>
          <a:blip r:embed="rId3"/>
          <a:stretch/>
        </p:blipFill>
        <p:spPr>
          <a:xfrm>
            <a:off x="762120" y="2400480"/>
            <a:ext cx="3352320" cy="333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Image 3" descr="preencoded.png"/>
          <p:cNvPicPr/>
          <p:nvPr/>
        </p:nvPicPr>
        <p:blipFill>
          <a:blip r:embed="rId4"/>
          <a:stretch/>
        </p:blipFill>
        <p:spPr>
          <a:xfrm>
            <a:off x="1066680" y="270504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Image 4" descr="preencoded.png"/>
          <p:cNvPicPr/>
          <p:nvPr/>
        </p:nvPicPr>
        <p:blipFill>
          <a:blip r:embed="rId5"/>
          <a:stretch/>
        </p:blipFill>
        <p:spPr>
          <a:xfrm>
            <a:off x="1228680" y="2838600"/>
            <a:ext cx="2854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Image 5" descr="preencoded.png"/>
          <p:cNvPicPr/>
          <p:nvPr/>
        </p:nvPicPr>
        <p:blipFill>
          <a:blip r:embed="rId6"/>
          <a:stretch/>
        </p:blipFill>
        <p:spPr>
          <a:xfrm>
            <a:off x="4419720" y="2400480"/>
            <a:ext cx="3352320" cy="333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Image 6" descr="preencoded.png"/>
          <p:cNvPicPr/>
          <p:nvPr/>
        </p:nvPicPr>
        <p:blipFill>
          <a:blip r:embed="rId7"/>
          <a:stretch/>
        </p:blipFill>
        <p:spPr>
          <a:xfrm>
            <a:off x="4724280" y="270504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Image 7" descr="preencoded.png"/>
          <p:cNvPicPr/>
          <p:nvPr/>
        </p:nvPicPr>
        <p:blipFill>
          <a:blip r:embed="rId8"/>
          <a:stretch/>
        </p:blipFill>
        <p:spPr>
          <a:xfrm>
            <a:off x="4848120" y="2838600"/>
            <a:ext cx="3614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Image 8" descr="preencoded.png"/>
          <p:cNvPicPr/>
          <p:nvPr/>
        </p:nvPicPr>
        <p:blipFill>
          <a:blip r:embed="rId9"/>
          <a:stretch/>
        </p:blipFill>
        <p:spPr>
          <a:xfrm>
            <a:off x="8077320" y="2400480"/>
            <a:ext cx="3352320" cy="333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Image 9" descr="preencoded.png"/>
          <p:cNvPicPr/>
          <p:nvPr/>
        </p:nvPicPr>
        <p:blipFill>
          <a:blip r:embed="rId10"/>
          <a:stretch/>
        </p:blipFill>
        <p:spPr>
          <a:xfrm>
            <a:off x="8381880" y="270504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Image 10" descr="preencoded.png"/>
          <p:cNvPicPr/>
          <p:nvPr/>
        </p:nvPicPr>
        <p:blipFill>
          <a:blip r:embed="rId11"/>
          <a:stretch/>
        </p:blipFill>
        <p:spPr>
          <a:xfrm>
            <a:off x="8505720" y="2838600"/>
            <a:ext cx="36144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0"/>
          <p:cNvSpPr/>
          <p:nvPr/>
        </p:nvSpPr>
        <p:spPr>
          <a:xfrm>
            <a:off x="762120" y="571680"/>
            <a:ext cx="1066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Introduction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762120" y="1181160"/>
            <a:ext cx="10667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5e59"/>
                </a:solidFill>
                <a:effectLst/>
                <a:uFillTx/>
                <a:latin typeface="Inter"/>
                <a:ea typeface="Inter"/>
              </a:rPr>
              <a:t>AI tools are transforming student learning, raising concerns about academic integrity and ethical use in education.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1066680" y="3543480"/>
            <a:ext cx="3291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AI in Education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1066680" y="4000680"/>
            <a:ext cx="2742840" cy="13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Generative AI tools like </a:t>
            </a:r>
            <a:r>
              <a:rPr b="1" lang="en-US" sz="13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ChatGPT, Gemini, and Claude</a:t>
            </a:r>
            <a:r>
              <a:rPr b="0" lang="en-US" sz="13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 are fundamentally transforming how students access, process, and synthesize information.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4724280" y="3543480"/>
            <a:ext cx="3291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Academic Integrity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4724280" y="4000680"/>
            <a:ext cx="2742840" cy="13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The core values of </a:t>
            </a:r>
            <a:r>
              <a:rPr b="1" lang="en-US" sz="1350" strike="noStrike" u="none">
                <a:solidFill>
                  <a:srgbClr val="0f766e"/>
                </a:solidFill>
                <a:effectLst/>
                <a:uFillTx/>
                <a:latin typeface="Inter"/>
                <a:ea typeface="Inter"/>
              </a:rPr>
              <a:t>honesty and original work</a:t>
            </a:r>
            <a:r>
              <a:rPr b="0" lang="en-US" sz="13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 remain vital. Maintaining these standards is essential for the credibility of academic qualifications.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8381880" y="3543480"/>
            <a:ext cx="3291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11827"/>
                </a:solidFill>
                <a:effectLst/>
                <a:uFillTx/>
                <a:latin typeface="Inter"/>
                <a:ea typeface="Inter"/>
              </a:rPr>
              <a:t>The Ethical Shift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8381880" y="4000680"/>
            <a:ext cx="2742840" cy="13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The transition from traditional learning to </a:t>
            </a:r>
            <a:r>
              <a:rPr b="1" lang="en-US" sz="1350" strike="noStrike" u="none">
                <a:solidFill>
                  <a:srgbClr val="ea580c"/>
                </a:solidFill>
                <a:effectLst/>
                <a:uFillTx/>
                <a:latin typeface="Inter"/>
                <a:ea typeface="Inter"/>
              </a:rPr>
              <a:t>AI-assisted learning</a:t>
            </a:r>
            <a:r>
              <a:rPr b="0" lang="en-US" sz="1350" strike="noStrike" u="none">
                <a:solidFill>
                  <a:srgbClr val="374151"/>
                </a:solidFill>
                <a:effectLst/>
                <a:uFillTx/>
                <a:latin typeface="Inter"/>
                <a:ea typeface="Inter"/>
              </a:rPr>
              <a:t> brings significant ethical implications that educators and students must navigate.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Image 1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Image 2" descr="preencoded.png"/>
          <p:cNvPicPr/>
          <p:nvPr/>
        </p:nvPicPr>
        <p:blipFill>
          <a:blip r:embed="rId4"/>
          <a:stretch/>
        </p:blipFill>
        <p:spPr>
          <a:xfrm>
            <a:off x="609480" y="1295280"/>
            <a:ext cx="91404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Image 3" descr="preencoded.png"/>
          <p:cNvPicPr/>
          <p:nvPr/>
        </p:nvPicPr>
        <p:blipFill>
          <a:blip r:embed="rId5"/>
          <a:stretch/>
        </p:blipFill>
        <p:spPr>
          <a:xfrm>
            <a:off x="609480" y="22525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Image 4" descr="preencoded.png"/>
          <p:cNvPicPr/>
          <p:nvPr/>
        </p:nvPicPr>
        <p:blipFill>
          <a:blip r:embed="rId6"/>
          <a:stretch/>
        </p:blipFill>
        <p:spPr>
          <a:xfrm>
            <a:off x="809640" y="2462040"/>
            <a:ext cx="3614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Image 5" descr="preencoded.png"/>
          <p:cNvPicPr/>
          <p:nvPr/>
        </p:nvPicPr>
        <p:blipFill>
          <a:blip r:embed="rId7"/>
          <a:stretch/>
        </p:blipFill>
        <p:spPr>
          <a:xfrm>
            <a:off x="609480" y="35575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Image 6" descr="preencoded.png"/>
          <p:cNvPicPr/>
          <p:nvPr/>
        </p:nvPicPr>
        <p:blipFill>
          <a:blip r:embed="rId8"/>
          <a:stretch/>
        </p:blipFill>
        <p:spPr>
          <a:xfrm>
            <a:off x="847800" y="3767040"/>
            <a:ext cx="2854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Image 7" descr="preencoded.png"/>
          <p:cNvPicPr/>
          <p:nvPr/>
        </p:nvPicPr>
        <p:blipFill>
          <a:blip r:embed="rId9"/>
          <a:stretch/>
        </p:blipFill>
        <p:spPr>
          <a:xfrm>
            <a:off x="609480" y="48625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Image 8" descr="preencoded.png"/>
          <p:cNvPicPr/>
          <p:nvPr/>
        </p:nvPicPr>
        <p:blipFill>
          <a:blip r:embed="rId10"/>
          <a:stretch/>
        </p:blipFill>
        <p:spPr>
          <a:xfrm>
            <a:off x="809640" y="5072040"/>
            <a:ext cx="3614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Image 9" descr="preencoded.png"/>
          <p:cNvPicPr/>
          <p:nvPr/>
        </p:nvPicPr>
        <p:blipFill>
          <a:blip r:embed="rId11"/>
          <a:stretch/>
        </p:blipFill>
        <p:spPr>
          <a:xfrm>
            <a:off x="609480" y="5943600"/>
            <a:ext cx="1097244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0"/>
          <p:cNvSpPr/>
          <p:nvPr/>
        </p:nvSpPr>
        <p:spPr>
          <a:xfrm>
            <a:off x="609480" y="609480"/>
            <a:ext cx="1316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Statement of the Problem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1676520" y="2252520"/>
            <a:ext cx="8534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High Risk of AI Dependency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1676520" y="2633760"/>
            <a:ext cx="85341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38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Students are increasingly relying on AI tools for basic academic tasks, potentially hindering independent learning and self-reliance.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1676520" y="3557520"/>
            <a:ext cx="8534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Decline in Critical Thinking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1676520" y="3938760"/>
            <a:ext cx="85341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38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Automated solutions may lead to a significant decline in problem-solving skills and the ability to engage in deep, original analytical thought.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1676520" y="4862520"/>
            <a:ext cx="8534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The Identification Challenge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1676520" y="5243400"/>
            <a:ext cx="85341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38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Educators face growing difficulty in distinguishing between a student's original intellectual contribution and AI-generated outputs.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Image 1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Image 2" descr="preencoded.png"/>
          <p:cNvPicPr/>
          <p:nvPr/>
        </p:nvPicPr>
        <p:blipFill>
          <a:blip r:embed="rId4"/>
          <a:stretch/>
        </p:blipFill>
        <p:spPr>
          <a:xfrm>
            <a:off x="609480" y="1219320"/>
            <a:ext cx="853416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Image 3" descr="preencoded.png"/>
          <p:cNvPicPr/>
          <p:nvPr/>
        </p:nvPicPr>
        <p:blipFill>
          <a:blip r:embed="rId5"/>
          <a:stretch/>
        </p:blipFill>
        <p:spPr>
          <a:xfrm>
            <a:off x="609480" y="2438280"/>
            <a:ext cx="3403080" cy="319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Image 4" descr="preencoded.png"/>
          <p:cNvPicPr/>
          <p:nvPr/>
        </p:nvPicPr>
        <p:blipFill>
          <a:blip r:embed="rId6"/>
          <a:stretch/>
        </p:blipFill>
        <p:spPr>
          <a:xfrm>
            <a:off x="1930320" y="28195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Image 5" descr="preencoded.png"/>
          <p:cNvPicPr/>
          <p:nvPr/>
        </p:nvPicPr>
        <p:blipFill>
          <a:blip r:embed="rId7"/>
          <a:stretch/>
        </p:blipFill>
        <p:spPr>
          <a:xfrm>
            <a:off x="2139840" y="3009960"/>
            <a:ext cx="3427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Image 6" descr="preencoded.png"/>
          <p:cNvPicPr/>
          <p:nvPr/>
        </p:nvPicPr>
        <p:blipFill>
          <a:blip r:embed="rId8"/>
          <a:stretch/>
        </p:blipFill>
        <p:spPr>
          <a:xfrm>
            <a:off x="4394160" y="2438280"/>
            <a:ext cx="3403080" cy="319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Image 7" descr="preencoded.png"/>
          <p:cNvPicPr/>
          <p:nvPr/>
        </p:nvPicPr>
        <p:blipFill>
          <a:blip r:embed="rId9"/>
          <a:stretch/>
        </p:blipFill>
        <p:spPr>
          <a:xfrm>
            <a:off x="5715000" y="28195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 8" descr="preencoded.png"/>
          <p:cNvPicPr/>
          <p:nvPr/>
        </p:nvPicPr>
        <p:blipFill>
          <a:blip r:embed="rId10"/>
          <a:stretch/>
        </p:blipFill>
        <p:spPr>
          <a:xfrm>
            <a:off x="5967360" y="3009960"/>
            <a:ext cx="25668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 9" descr="preencoded.png"/>
          <p:cNvPicPr/>
          <p:nvPr/>
        </p:nvPicPr>
        <p:blipFill>
          <a:blip r:embed="rId11"/>
          <a:stretch/>
        </p:blipFill>
        <p:spPr>
          <a:xfrm>
            <a:off x="8178840" y="2438280"/>
            <a:ext cx="3403440" cy="319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 10" descr="preencoded.png"/>
          <p:cNvPicPr/>
          <p:nvPr/>
        </p:nvPicPr>
        <p:blipFill>
          <a:blip r:embed="rId12"/>
          <a:stretch/>
        </p:blipFill>
        <p:spPr>
          <a:xfrm>
            <a:off x="9499680" y="28195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 11" descr="preencoded.png"/>
          <p:cNvPicPr/>
          <p:nvPr/>
        </p:nvPicPr>
        <p:blipFill>
          <a:blip r:embed="rId13"/>
          <a:stretch/>
        </p:blipFill>
        <p:spPr>
          <a:xfrm>
            <a:off x="9666360" y="3009960"/>
            <a:ext cx="42840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0"/>
          <p:cNvSpPr/>
          <p:nvPr/>
        </p:nvSpPr>
        <p:spPr>
          <a:xfrm>
            <a:off x="609480" y="6094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Research Objectives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838080" y="1219320"/>
            <a:ext cx="8534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65f46"/>
                </a:solidFill>
                <a:effectLst/>
                <a:uFillTx/>
                <a:latin typeface="Inter"/>
                <a:ea typeface="Inter"/>
              </a:rPr>
              <a:t>To examine AI usage patterns, its impact on learning, and students’ views on academic integrity in the AI era.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1282680" y="3886200"/>
            <a:ext cx="20570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Usage Patterns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998280" y="4419720"/>
            <a:ext cx="262584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Explore the </a:t>
            </a:r>
            <a:r>
              <a:rPr b="1" lang="en-US" sz="13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frequency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and </a:t>
            </a:r>
            <a:r>
              <a:rPr b="1" lang="en-US" sz="13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purpose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of AI tool usage among students.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5004360" y="3886200"/>
            <a:ext cx="2182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Learning Impact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4782600" y="4419720"/>
            <a:ext cx="262584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Analyze the impact on </a:t>
            </a:r>
            <a:r>
              <a:rPr b="1" lang="en-US" sz="1350" strike="noStrike" u="none">
                <a:solidFill>
                  <a:srgbClr val="0f766e"/>
                </a:solidFill>
                <a:effectLst/>
                <a:uFillTx/>
                <a:latin typeface="Inter"/>
                <a:ea typeface="Inter"/>
              </a:rPr>
              <a:t>academic performance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and overall </a:t>
            </a:r>
            <a:r>
              <a:rPr b="1" lang="en-US" sz="1350" strike="noStrike" u="none">
                <a:solidFill>
                  <a:srgbClr val="0f766e"/>
                </a:solidFill>
                <a:effectLst/>
                <a:uFillTx/>
                <a:latin typeface="Inter"/>
                <a:ea typeface="Inter"/>
              </a:rPr>
              <a:t>learning speed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8463240" y="3886200"/>
            <a:ext cx="2834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Integrity Perceptions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8567280" y="4419720"/>
            <a:ext cx="262584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Evaluate student perceptions of </a:t>
            </a:r>
            <a:r>
              <a:rPr b="1" lang="en-US" sz="135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academic integrity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and ethics in the modern AI era.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98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Image 1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760" cy="698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 2" descr="preencoded.png"/>
          <p:cNvPicPr/>
          <p:nvPr/>
        </p:nvPicPr>
        <p:blipFill>
          <a:blip r:embed="rId4"/>
          <a:stretch/>
        </p:blipFill>
        <p:spPr>
          <a:xfrm>
            <a:off x="0" y="0"/>
            <a:ext cx="121917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Image 3" descr="preencoded.png"/>
          <p:cNvPicPr/>
          <p:nvPr/>
        </p:nvPicPr>
        <p:blipFill>
          <a:blip r:embed="rId5"/>
          <a:stretch/>
        </p:blipFill>
        <p:spPr>
          <a:xfrm>
            <a:off x="762120" y="1181160"/>
            <a:ext cx="1066752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 4" descr="preencoded.png"/>
          <p:cNvPicPr/>
          <p:nvPr/>
        </p:nvPicPr>
        <p:blipFill>
          <a:blip r:embed="rId6"/>
          <a:stretch/>
        </p:blipFill>
        <p:spPr>
          <a:xfrm>
            <a:off x="762120" y="2095560"/>
            <a:ext cx="5143320" cy="176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Image 5" descr="preencoded.png"/>
          <p:cNvPicPr/>
          <p:nvPr/>
        </p:nvPicPr>
        <p:blipFill>
          <a:blip r:embed="rId7"/>
          <a:stretch/>
        </p:blipFill>
        <p:spPr>
          <a:xfrm>
            <a:off x="990720" y="232416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 6" descr="preencoded.png"/>
          <p:cNvPicPr/>
          <p:nvPr/>
        </p:nvPicPr>
        <p:blipFill>
          <a:blip r:embed="rId8"/>
          <a:stretch/>
        </p:blipFill>
        <p:spPr>
          <a:xfrm>
            <a:off x="1181160" y="2476440"/>
            <a:ext cx="22824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 7" descr="preencoded.png"/>
          <p:cNvPicPr/>
          <p:nvPr/>
        </p:nvPicPr>
        <p:blipFill>
          <a:blip r:embed="rId9"/>
          <a:stretch/>
        </p:blipFill>
        <p:spPr>
          <a:xfrm>
            <a:off x="6286680" y="2095560"/>
            <a:ext cx="5143320" cy="176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 8" descr="preencoded.png"/>
          <p:cNvPicPr/>
          <p:nvPr/>
        </p:nvPicPr>
        <p:blipFill>
          <a:blip r:embed="rId10"/>
          <a:stretch/>
        </p:blipFill>
        <p:spPr>
          <a:xfrm>
            <a:off x="6515280" y="232416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Image 9" descr="preencoded.png"/>
          <p:cNvPicPr/>
          <p:nvPr/>
        </p:nvPicPr>
        <p:blipFill>
          <a:blip r:embed="rId11"/>
          <a:stretch/>
        </p:blipFill>
        <p:spPr>
          <a:xfrm>
            <a:off x="6676920" y="2476440"/>
            <a:ext cx="28548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Image 10" descr="preencoded.png"/>
          <p:cNvPicPr/>
          <p:nvPr/>
        </p:nvPicPr>
        <p:blipFill>
          <a:blip r:embed="rId12"/>
          <a:stretch/>
        </p:blipFill>
        <p:spPr>
          <a:xfrm>
            <a:off x="762120" y="4241160"/>
            <a:ext cx="5143320" cy="163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Image 11" descr="preencoded.png"/>
          <p:cNvPicPr/>
          <p:nvPr/>
        </p:nvPicPr>
        <p:blipFill>
          <a:blip r:embed="rId13"/>
          <a:stretch/>
        </p:blipFill>
        <p:spPr>
          <a:xfrm>
            <a:off x="990720" y="446976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Image 12" descr="preencoded.png"/>
          <p:cNvPicPr/>
          <p:nvPr/>
        </p:nvPicPr>
        <p:blipFill>
          <a:blip r:embed="rId14"/>
          <a:stretch/>
        </p:blipFill>
        <p:spPr>
          <a:xfrm>
            <a:off x="1195560" y="4622040"/>
            <a:ext cx="19980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Image 13" descr="preencoded.png"/>
          <p:cNvPicPr/>
          <p:nvPr/>
        </p:nvPicPr>
        <p:blipFill>
          <a:blip r:embed="rId15"/>
          <a:stretch/>
        </p:blipFill>
        <p:spPr>
          <a:xfrm>
            <a:off x="6286680" y="4241160"/>
            <a:ext cx="5143320" cy="163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 14" descr="preencoded.png"/>
          <p:cNvPicPr/>
          <p:nvPr/>
        </p:nvPicPr>
        <p:blipFill>
          <a:blip r:embed="rId16"/>
          <a:stretch/>
        </p:blipFill>
        <p:spPr>
          <a:xfrm>
            <a:off x="6515280" y="446976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Image 15" descr="preencoded.png"/>
          <p:cNvPicPr/>
          <p:nvPr/>
        </p:nvPicPr>
        <p:blipFill>
          <a:blip r:embed="rId17"/>
          <a:stretch/>
        </p:blipFill>
        <p:spPr>
          <a:xfrm>
            <a:off x="6676920" y="4622040"/>
            <a:ext cx="28548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0"/>
          <p:cNvSpPr/>
          <p:nvPr/>
        </p:nvSpPr>
        <p:spPr>
          <a:xfrm>
            <a:off x="762120" y="571680"/>
            <a:ext cx="1280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Research Methodology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990720" y="1181160"/>
            <a:ext cx="12801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5e59"/>
                </a:solidFill>
                <a:effectLst/>
                <a:uFillTx/>
                <a:latin typeface="Inter"/>
                <a:ea typeface="Inter"/>
              </a:rPr>
              <a:t>A structured quantitative approach to analyze AI impact.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1828800" y="2324160"/>
            <a:ext cx="3832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Research Design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1828800" y="2666880"/>
            <a:ext cx="3832560" cy="7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3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Quantitative Research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57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Utilized a survey-based design to quantify student behaviors and perceptions.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7353360" y="2324160"/>
            <a:ext cx="4599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Target Population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7353360" y="2666880"/>
            <a:ext cx="383256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13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BICTE Students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57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Information Communication Technology Education students at Sukuna Multiple Campus.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1828800" y="4469760"/>
            <a:ext cx="3832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Sample Size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1828800" y="4812480"/>
            <a:ext cx="3832560" cy="8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lang="en-US" sz="22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39</a:t>
            </a:r>
            <a:endParaRPr b="0" lang="en-GB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57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Total valid respondents who participated in the study.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7353360" y="4469760"/>
            <a:ext cx="3832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Data Collection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7353360" y="4812480"/>
            <a:ext cx="383256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1" i="1" lang="en-US" sz="13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Structured Questionnaire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57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Administered digitally via </a:t>
            </a:r>
            <a:r>
              <a:rPr b="1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Google Forms</a:t>
            </a:r>
            <a:r>
              <a:rPr b="0" lang="en-US" sz="1350" strike="noStrike" u="none">
                <a:solidFill>
                  <a:srgbClr val="4b5563"/>
                </a:solidFill>
                <a:effectLst/>
                <a:uFillTx/>
                <a:latin typeface="Inter"/>
                <a:ea typeface="Inter"/>
              </a:rPr>
              <a:t> for accuracy and efficiency.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360" y="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 1" descr="preencoded.png"/>
          <p:cNvPicPr/>
          <p:nvPr/>
        </p:nvPicPr>
        <p:blipFill>
          <a:blip r:embed="rId2"/>
          <a:stretch/>
        </p:blipFill>
        <p:spPr>
          <a:xfrm>
            <a:off x="571680" y="285840"/>
            <a:ext cx="1104876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Image 2" descr="preencoded.png"/>
          <p:cNvPicPr/>
          <p:nvPr/>
        </p:nvPicPr>
        <p:blipFill>
          <a:blip r:embed="rId3"/>
          <a:stretch/>
        </p:blipFill>
        <p:spPr>
          <a:xfrm>
            <a:off x="9820440" y="304920"/>
            <a:ext cx="180000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Image 3" descr="preencoded.png"/>
          <p:cNvPicPr/>
          <p:nvPr/>
        </p:nvPicPr>
        <p:blipFill>
          <a:blip r:embed="rId4"/>
          <a:stretch/>
        </p:blipFill>
        <p:spPr>
          <a:xfrm>
            <a:off x="571680" y="1085760"/>
            <a:ext cx="4425480" cy="19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Image 4" descr="preencoded.png"/>
          <p:cNvPicPr/>
          <p:nvPr/>
        </p:nvPicPr>
        <p:blipFill>
          <a:blip r:embed="rId5"/>
          <a:stretch/>
        </p:blipFill>
        <p:spPr>
          <a:xfrm>
            <a:off x="571680" y="3219480"/>
            <a:ext cx="442548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Image 5" descr="preencoded.png"/>
          <p:cNvPicPr/>
          <p:nvPr/>
        </p:nvPicPr>
        <p:blipFill>
          <a:blip r:embed="rId6"/>
          <a:stretch/>
        </p:blipFill>
        <p:spPr>
          <a:xfrm>
            <a:off x="762120" y="3409920"/>
            <a:ext cx="59004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Image 6" descr="preencoded.png"/>
          <p:cNvPicPr/>
          <p:nvPr/>
        </p:nvPicPr>
        <p:blipFill>
          <a:blip r:embed="rId7"/>
          <a:stretch/>
        </p:blipFill>
        <p:spPr>
          <a:xfrm>
            <a:off x="876240" y="3524400"/>
            <a:ext cx="3614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Image 7" descr="preencoded.png"/>
          <p:cNvPicPr/>
          <p:nvPr/>
        </p:nvPicPr>
        <p:blipFill>
          <a:blip r:embed="rId8"/>
          <a:stretch/>
        </p:blipFill>
        <p:spPr>
          <a:xfrm>
            <a:off x="5302080" y="1085760"/>
            <a:ext cx="6317640" cy="175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Image 8" descr="preencoded.png"/>
          <p:cNvPicPr/>
          <p:nvPr/>
        </p:nvPicPr>
        <p:blipFill>
          <a:blip r:embed="rId9"/>
          <a:stretch/>
        </p:blipFill>
        <p:spPr>
          <a:xfrm>
            <a:off x="5530680" y="1352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Image 9" descr="preencoded.png"/>
          <p:cNvPicPr/>
          <p:nvPr/>
        </p:nvPicPr>
        <p:blipFill>
          <a:blip r:embed="rId10"/>
          <a:stretch/>
        </p:blipFill>
        <p:spPr>
          <a:xfrm>
            <a:off x="5530680" y="1771560"/>
            <a:ext cx="1872000" cy="8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Image 10" descr="preencoded.png"/>
          <p:cNvPicPr/>
          <p:nvPr/>
        </p:nvPicPr>
        <p:blipFill>
          <a:blip r:embed="rId11"/>
          <a:stretch/>
        </p:blipFill>
        <p:spPr>
          <a:xfrm>
            <a:off x="6352560" y="1886040"/>
            <a:ext cx="22824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Image 11" descr="preencoded.png"/>
          <p:cNvPicPr/>
          <p:nvPr/>
        </p:nvPicPr>
        <p:blipFill>
          <a:blip r:embed="rId12"/>
          <a:stretch/>
        </p:blipFill>
        <p:spPr>
          <a:xfrm>
            <a:off x="7517160" y="1771560"/>
            <a:ext cx="1872000" cy="8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Image 12" descr="preencoded.png"/>
          <p:cNvPicPr/>
          <p:nvPr/>
        </p:nvPicPr>
        <p:blipFill>
          <a:blip r:embed="rId13"/>
          <a:stretch/>
        </p:blipFill>
        <p:spPr>
          <a:xfrm>
            <a:off x="8339040" y="1886040"/>
            <a:ext cx="22824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Image 13" descr="preencoded.png"/>
          <p:cNvPicPr/>
          <p:nvPr/>
        </p:nvPicPr>
        <p:blipFill>
          <a:blip r:embed="rId14"/>
          <a:stretch/>
        </p:blipFill>
        <p:spPr>
          <a:xfrm>
            <a:off x="9504000" y="1771560"/>
            <a:ext cx="1872000" cy="83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Image 14" descr="preencoded.png"/>
          <p:cNvPicPr/>
          <p:nvPr/>
        </p:nvPicPr>
        <p:blipFill>
          <a:blip r:embed="rId15"/>
          <a:stretch/>
        </p:blipFill>
        <p:spPr>
          <a:xfrm>
            <a:off x="10325880" y="1886040"/>
            <a:ext cx="22824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Image 15" descr="preencoded.png"/>
          <p:cNvPicPr/>
          <p:nvPr/>
        </p:nvPicPr>
        <p:blipFill>
          <a:blip r:embed="rId16"/>
          <a:stretch/>
        </p:blipFill>
        <p:spPr>
          <a:xfrm>
            <a:off x="5302080" y="2952720"/>
            <a:ext cx="6317640" cy="31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 16" descr="preencoded.png"/>
          <p:cNvPicPr/>
          <p:nvPr/>
        </p:nvPicPr>
        <p:blipFill>
          <a:blip r:embed="rId17"/>
          <a:stretch/>
        </p:blipFill>
        <p:spPr>
          <a:xfrm>
            <a:off x="5530680" y="32194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0"/>
          <p:cNvSpPr/>
          <p:nvPr/>
        </p:nvSpPr>
        <p:spPr>
          <a:xfrm>
            <a:off x="571680" y="285840"/>
            <a:ext cx="688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Major Findings – AI Usage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9972720" y="304920"/>
            <a:ext cx="2160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800280" y="1314360"/>
            <a:ext cx="3952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pc="96" strike="noStrike" u="none">
                <a:solidFill>
                  <a:srgbClr val="065f46"/>
                </a:solidFill>
                <a:effectLst/>
                <a:uFillTx/>
                <a:latin typeface="Inter"/>
                <a:ea typeface="Inter"/>
              </a:rPr>
              <a:t>USAGE RATE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04640" y="1581120"/>
            <a:ext cx="4743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7200" strike="noStrike" u="none">
                <a:solidFill>
                  <a:srgbClr val="059669"/>
                </a:solidFill>
                <a:effectLst/>
                <a:uFillTx/>
                <a:latin typeface="Inter"/>
                <a:ea typeface="Inter"/>
              </a:rPr>
              <a:t>97.4%</a:t>
            </a:r>
            <a:endParaRPr b="0" lang="en-GB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404640" y="2571840"/>
            <a:ext cx="4743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of students utilize AI tools daily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1467000" y="3429000"/>
            <a:ext cx="3233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Primary Tool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1467000" y="3695760"/>
            <a:ext cx="32338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ChatGPT is the most dominant platform.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5873760" y="1314360"/>
            <a:ext cx="5860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Core Purpose of Use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5603760" y="2266920"/>
            <a:ext cx="172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Researching Topics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7613280" y="2266920"/>
            <a:ext cx="167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Summarizing Texts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9685800" y="226692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Assignment Help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5873760" y="3181320"/>
            <a:ext cx="5860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Usage Frequency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8"/>
          <a:srcRect l="0" t="21531" r="0" b="0"/>
          <a:stretch/>
        </p:blipFill>
        <p:spPr>
          <a:xfrm>
            <a:off x="5722920" y="3854160"/>
            <a:ext cx="5077080" cy="17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Image 0" descr="preencoded.png"/>
          <p:cNvPicPr/>
          <p:nvPr/>
        </p:nvPicPr>
        <p:blipFill>
          <a:blip r:embed="rId1"/>
          <a:stretch/>
        </p:blipFill>
        <p:spPr>
          <a:xfrm>
            <a:off x="11016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Image 1" descr="preencoded.png"/>
          <p:cNvPicPr/>
          <p:nvPr/>
        </p:nvPicPr>
        <p:blipFill>
          <a:blip r:embed="rId2"/>
          <a:stretch/>
        </p:blipFill>
        <p:spPr>
          <a:xfrm>
            <a:off x="762120" y="476280"/>
            <a:ext cx="1066752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Image 2" descr="preencoded.png"/>
          <p:cNvPicPr/>
          <p:nvPr/>
        </p:nvPicPr>
        <p:blipFill>
          <a:blip r:embed="rId3"/>
          <a:stretch/>
        </p:blipFill>
        <p:spPr>
          <a:xfrm>
            <a:off x="6458040" y="2933640"/>
            <a:ext cx="39960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Image 3" descr="preencoded.png"/>
          <p:cNvPicPr/>
          <p:nvPr/>
        </p:nvPicPr>
        <p:blipFill>
          <a:blip r:embed="rId4"/>
          <a:stretch/>
        </p:blipFill>
        <p:spPr>
          <a:xfrm>
            <a:off x="6572160" y="3048120"/>
            <a:ext cx="1710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Image 4" descr="preencoded.png"/>
          <p:cNvPicPr/>
          <p:nvPr/>
        </p:nvPicPr>
        <p:blipFill>
          <a:blip r:embed="rId5"/>
          <a:stretch/>
        </p:blipFill>
        <p:spPr>
          <a:xfrm>
            <a:off x="6458040" y="3886200"/>
            <a:ext cx="46620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Image 5" descr="preencoded.png"/>
          <p:cNvPicPr/>
          <p:nvPr/>
        </p:nvPicPr>
        <p:blipFill>
          <a:blip r:embed="rId6"/>
          <a:stretch/>
        </p:blipFill>
        <p:spPr>
          <a:xfrm>
            <a:off x="6572160" y="4000680"/>
            <a:ext cx="23760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Image 6" descr="preencoded.png"/>
          <p:cNvPicPr/>
          <p:nvPr/>
        </p:nvPicPr>
        <p:blipFill>
          <a:blip r:embed="rId7"/>
          <a:stretch/>
        </p:blipFill>
        <p:spPr>
          <a:xfrm>
            <a:off x="6458040" y="4838760"/>
            <a:ext cx="418680" cy="49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Image 7" descr="preencoded.png"/>
          <p:cNvPicPr/>
          <p:nvPr/>
        </p:nvPicPr>
        <p:blipFill>
          <a:blip r:embed="rId8"/>
          <a:stretch/>
        </p:blipFill>
        <p:spPr>
          <a:xfrm>
            <a:off x="6572160" y="4952880"/>
            <a:ext cx="1900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0"/>
          <p:cNvSpPr/>
          <p:nvPr/>
        </p:nvSpPr>
        <p:spPr>
          <a:xfrm>
            <a:off x="762120" y="933480"/>
            <a:ext cx="1280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Impact on Learning &amp; Academic Integrity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762120" y="1467000"/>
            <a:ext cx="12801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0f766e"/>
                </a:solidFill>
                <a:effectLst/>
                <a:uFillTx/>
                <a:latin typeface="Inter"/>
                <a:ea typeface="Inter"/>
              </a:rPr>
              <a:t>Evaluating the dual nature of AI integration in the BICTE curriculum.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7010280" y="2895480"/>
            <a:ext cx="4424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Efficiency Boost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7010280" y="3162240"/>
            <a:ext cx="442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95% of students report that AI significantly accelerates the learning process and research tasks.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7077240" y="3848040"/>
            <a:ext cx="4352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8350f"/>
                </a:solidFill>
                <a:effectLst/>
                <a:uFillTx/>
                <a:latin typeface="Inter"/>
                <a:ea typeface="Inter"/>
              </a:rPr>
              <a:t>Rising Dependency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7077240" y="4114800"/>
            <a:ext cx="4352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82% admit to a growing reliance on AI, potentially impacting independent problem-solving skills.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7029360" y="4800600"/>
            <a:ext cx="440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Integrity Paradox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7029360" y="5067360"/>
            <a:ext cx="44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While 90% value ethical boundaries, many still utilize AI for shortcuts in assignments.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9"/>
          <a:stretch/>
        </p:blipFill>
        <p:spPr>
          <a:xfrm>
            <a:off x="1080000" y="2319480"/>
            <a:ext cx="4172040" cy="380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Image 1" descr="preencoded.png"/>
          <p:cNvPicPr/>
          <p:nvPr/>
        </p:nvPicPr>
        <p:blipFill>
          <a:blip r:embed="rId2"/>
          <a:stretch/>
        </p:blipFill>
        <p:spPr>
          <a:xfrm>
            <a:off x="762120" y="666720"/>
            <a:ext cx="114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Image 2" descr="preencoded.png"/>
          <p:cNvPicPr/>
          <p:nvPr/>
        </p:nvPicPr>
        <p:blipFill>
          <a:blip r:embed="rId3"/>
          <a:stretch/>
        </p:blipFill>
        <p:spPr>
          <a:xfrm>
            <a:off x="762120" y="1981080"/>
            <a:ext cx="33523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Image 3" descr="preencoded.png"/>
          <p:cNvPicPr/>
          <p:nvPr/>
        </p:nvPicPr>
        <p:blipFill>
          <a:blip r:embed="rId4"/>
          <a:stretch/>
        </p:blipFill>
        <p:spPr>
          <a:xfrm>
            <a:off x="2057400" y="23623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Image 4" descr="preencoded.png"/>
          <p:cNvPicPr/>
          <p:nvPr/>
        </p:nvPicPr>
        <p:blipFill>
          <a:blip r:embed="rId5"/>
          <a:stretch/>
        </p:blipFill>
        <p:spPr>
          <a:xfrm>
            <a:off x="2266920" y="2552760"/>
            <a:ext cx="3427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Image 5" descr="preencoded.png"/>
          <p:cNvPicPr/>
          <p:nvPr/>
        </p:nvPicPr>
        <p:blipFill>
          <a:blip r:embed="rId6"/>
          <a:stretch/>
        </p:blipFill>
        <p:spPr>
          <a:xfrm>
            <a:off x="4419720" y="1981080"/>
            <a:ext cx="33523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Image 6" descr="preencoded.png"/>
          <p:cNvPicPr/>
          <p:nvPr/>
        </p:nvPicPr>
        <p:blipFill>
          <a:blip r:embed="rId7"/>
          <a:stretch/>
        </p:blipFill>
        <p:spPr>
          <a:xfrm>
            <a:off x="5715000" y="23623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Image 7" descr="preencoded.png"/>
          <p:cNvPicPr/>
          <p:nvPr/>
        </p:nvPicPr>
        <p:blipFill>
          <a:blip r:embed="rId8"/>
          <a:stretch/>
        </p:blipFill>
        <p:spPr>
          <a:xfrm>
            <a:off x="5924520" y="2552760"/>
            <a:ext cx="3427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Image 8" descr="preencoded.png"/>
          <p:cNvPicPr/>
          <p:nvPr/>
        </p:nvPicPr>
        <p:blipFill>
          <a:blip r:embed="rId9"/>
          <a:stretch/>
        </p:blipFill>
        <p:spPr>
          <a:xfrm>
            <a:off x="8077320" y="1981080"/>
            <a:ext cx="335232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Image 9" descr="preencoded.png"/>
          <p:cNvPicPr/>
          <p:nvPr/>
        </p:nvPicPr>
        <p:blipFill>
          <a:blip r:embed="rId10"/>
          <a:stretch/>
        </p:blipFill>
        <p:spPr>
          <a:xfrm>
            <a:off x="9372600" y="236232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Image 10" descr="preencoded.png"/>
          <p:cNvPicPr/>
          <p:nvPr/>
        </p:nvPicPr>
        <p:blipFill>
          <a:blip r:embed="rId11"/>
          <a:stretch/>
        </p:blipFill>
        <p:spPr>
          <a:xfrm>
            <a:off x="9582120" y="2552760"/>
            <a:ext cx="3427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0"/>
          <p:cNvSpPr/>
          <p:nvPr/>
        </p:nvSpPr>
        <p:spPr>
          <a:xfrm>
            <a:off x="1104840" y="571680"/>
            <a:ext cx="657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pc="-71" strike="noStrike" u="non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CHALLENGES IDENTIFIED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1295280" y="3429000"/>
            <a:ext cx="2285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Original Thought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150560" y="3962520"/>
            <a:ext cx="2575080" cy="13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Significant difficulty in maintaining </a:t>
            </a:r>
            <a:r>
              <a:rPr b="1" lang="en-US" sz="1350" strike="noStrike" u="none">
                <a:solidFill>
                  <a:srgbClr val="065f46"/>
                </a:solidFill>
                <a:effectLst/>
                <a:uFillTx/>
                <a:latin typeface="Inter"/>
                <a:ea typeface="Inter"/>
              </a:rPr>
              <a:t>independent critical thinking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as students increasingly rely on AI-generated outputs.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4804560" y="3429000"/>
            <a:ext cx="2583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Learning Shortcuts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4808160" y="3962520"/>
            <a:ext cx="2575080" cy="13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High temptation to </a:t>
            </a:r>
            <a:r>
              <a:rPr b="1" lang="en-US" sz="1350" strike="noStrike" u="none">
                <a:solidFill>
                  <a:srgbClr val="065f46"/>
                </a:solidFill>
                <a:effectLst/>
                <a:uFillTx/>
                <a:latin typeface="Inter"/>
                <a:ea typeface="Inter"/>
              </a:rPr>
              <a:t>copy-paste content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without fundamental understanding, leading to a decline in problem-solving skills.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8959320" y="3429000"/>
            <a:ext cx="1588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Policy Gaps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8465760" y="3962520"/>
            <a:ext cx="2575080" cy="13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94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 distinct </a:t>
            </a:r>
            <a:r>
              <a:rPr b="1" lang="en-US" sz="1350" strike="noStrike" u="none">
                <a:solidFill>
                  <a:srgbClr val="065f46"/>
                </a:solidFill>
                <a:effectLst/>
                <a:uFillTx/>
                <a:latin typeface="Inter"/>
                <a:ea typeface="Inter"/>
              </a:rPr>
              <a:t>lack of clear institutional policies</a:t>
            </a:r>
            <a:r>
              <a:rPr b="0" lang="en-US" sz="135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and guidelines regarding the ethical use of AI tools in academic settings.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96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Image 1" descr="preencoded.png"/>
          <p:cNvPicPr/>
          <p:nvPr/>
        </p:nvPicPr>
        <p:blipFill>
          <a:blip r:embed="rId2"/>
          <a:stretch/>
        </p:blipFill>
        <p:spPr>
          <a:xfrm>
            <a:off x="762120" y="571680"/>
            <a:ext cx="10667520" cy="79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Image 2" descr="preencoded.png"/>
          <p:cNvPicPr/>
          <p:nvPr/>
        </p:nvPicPr>
        <p:blipFill>
          <a:blip r:embed="rId3"/>
          <a:stretch/>
        </p:blipFill>
        <p:spPr>
          <a:xfrm>
            <a:off x="762120" y="1600200"/>
            <a:ext cx="1066752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Image 3" descr="preencoded.png"/>
          <p:cNvPicPr/>
          <p:nvPr/>
        </p:nvPicPr>
        <p:blipFill>
          <a:blip r:embed="rId4"/>
          <a:stretch/>
        </p:blipFill>
        <p:spPr>
          <a:xfrm>
            <a:off x="952560" y="179064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Image 4" descr="preencoded.png"/>
          <p:cNvPicPr/>
          <p:nvPr/>
        </p:nvPicPr>
        <p:blipFill>
          <a:blip r:embed="rId5"/>
          <a:stretch/>
        </p:blipFill>
        <p:spPr>
          <a:xfrm>
            <a:off x="1114560" y="1943280"/>
            <a:ext cx="28548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Image 5" descr="preencoded.png"/>
          <p:cNvPicPr/>
          <p:nvPr/>
        </p:nvPicPr>
        <p:blipFill>
          <a:blip r:embed="rId6"/>
          <a:stretch/>
        </p:blipFill>
        <p:spPr>
          <a:xfrm>
            <a:off x="762120" y="3009960"/>
            <a:ext cx="1066752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Image 6" descr="preencoded.png"/>
          <p:cNvPicPr/>
          <p:nvPr/>
        </p:nvPicPr>
        <p:blipFill>
          <a:blip r:embed="rId7"/>
          <a:stretch/>
        </p:blipFill>
        <p:spPr>
          <a:xfrm>
            <a:off x="952560" y="320040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Image 7" descr="preencoded.png"/>
          <p:cNvPicPr/>
          <p:nvPr/>
        </p:nvPicPr>
        <p:blipFill>
          <a:blip r:embed="rId8"/>
          <a:stretch/>
        </p:blipFill>
        <p:spPr>
          <a:xfrm>
            <a:off x="1128600" y="3352680"/>
            <a:ext cx="25668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Image 8" descr="preencoded.png"/>
          <p:cNvPicPr/>
          <p:nvPr/>
        </p:nvPicPr>
        <p:blipFill>
          <a:blip r:embed="rId9"/>
          <a:stretch/>
        </p:blipFill>
        <p:spPr>
          <a:xfrm>
            <a:off x="762120" y="4419720"/>
            <a:ext cx="1066752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Image 9" descr="preencoded.png"/>
          <p:cNvPicPr/>
          <p:nvPr/>
        </p:nvPicPr>
        <p:blipFill>
          <a:blip r:embed="rId10"/>
          <a:stretch/>
        </p:blipFill>
        <p:spPr>
          <a:xfrm>
            <a:off x="952560" y="461016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Image 10" descr="preencoded.png"/>
          <p:cNvPicPr/>
          <p:nvPr/>
        </p:nvPicPr>
        <p:blipFill>
          <a:blip r:embed="rId11"/>
          <a:stretch/>
        </p:blipFill>
        <p:spPr>
          <a:xfrm>
            <a:off x="1171440" y="4762440"/>
            <a:ext cx="17100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0"/>
          <p:cNvSpPr/>
          <p:nvPr/>
        </p:nvSpPr>
        <p:spPr>
          <a:xfrm>
            <a:off x="990720" y="571680"/>
            <a:ext cx="655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Recommendations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990720" y="1104840"/>
            <a:ext cx="54590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0f766e"/>
                </a:solidFill>
                <a:effectLst/>
                <a:uFillTx/>
                <a:latin typeface="Inter"/>
                <a:ea typeface="Inter"/>
              </a:rPr>
              <a:t>Strategic actions for institutional and pedagogical adaptation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1790640" y="1790640"/>
            <a:ext cx="9433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AI Integration &amp; Literacy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1790640" y="2133720"/>
            <a:ext cx="9433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Guide students to use AI as a </a:t>
            </a:r>
            <a:r>
              <a:rPr b="1" lang="en-US" sz="1350" strike="noStrike" u="non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personal tutor</a:t>
            </a:r>
            <a:r>
              <a:rPr b="0" lang="en-US" sz="135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rather than a shortcut. Teach prompt engineering and critical verification.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1790640" y="3200400"/>
            <a:ext cx="9433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Assessment Reform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1790640" y="3543480"/>
            <a:ext cx="9433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Shift evaluation methods to reduce AI reliance. Increase usage of </a:t>
            </a:r>
            <a:r>
              <a:rPr b="1" lang="en-US" sz="1350" strike="noStrike" u="none">
                <a:solidFill>
                  <a:srgbClr val="0f766e"/>
                </a:solidFill>
                <a:effectLst/>
                <a:uFillTx/>
                <a:latin typeface="Inter"/>
                <a:ea typeface="Inter"/>
              </a:rPr>
              <a:t>oral exams, in-class practicals,</a:t>
            </a:r>
            <a:r>
              <a:rPr b="0" lang="en-US" sz="135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and reflective journals.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1790640" y="4610160"/>
            <a:ext cx="9433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Ethics &amp; Integrity Workshops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1790640" y="4952880"/>
            <a:ext cx="9433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Implement mandatory </a:t>
            </a:r>
            <a:r>
              <a:rPr b="1" lang="en-US" sz="1350" strike="noStrike" u="none">
                <a:solidFill>
                  <a:srgbClr val="b45309"/>
                </a:solidFill>
                <a:effectLst/>
                <a:uFillTx/>
                <a:latin typeface="Inter"/>
                <a:ea typeface="Inter"/>
              </a:rPr>
              <a:t>academic honesty</a:t>
            </a:r>
            <a:r>
              <a:rPr b="0" lang="en-US" sz="1350" strike="noStrike" u="non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workshops. Establish clear policies on permissible AI usage in assignments.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Image 2" descr="preencoded.png"/>
          <p:cNvPicPr/>
          <p:nvPr/>
        </p:nvPicPr>
        <p:blipFill>
          <a:blip r:embed="rId3"/>
          <a:stretch/>
        </p:blipFill>
        <p:spPr>
          <a:xfrm>
            <a:off x="762120" y="1104840"/>
            <a:ext cx="12189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Image 3" descr="preencoded.png"/>
          <p:cNvPicPr/>
          <p:nvPr/>
        </p:nvPicPr>
        <p:blipFill>
          <a:blip r:embed="rId4"/>
          <a:stretch/>
        </p:blipFill>
        <p:spPr>
          <a:xfrm>
            <a:off x="762120" y="1447920"/>
            <a:ext cx="10667520" cy="146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Image 4" descr="preencoded.png"/>
          <p:cNvPicPr/>
          <p:nvPr/>
        </p:nvPicPr>
        <p:blipFill>
          <a:blip r:embed="rId5"/>
          <a:stretch/>
        </p:blipFill>
        <p:spPr>
          <a:xfrm>
            <a:off x="762120" y="3214800"/>
            <a:ext cx="3352320" cy="21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Image 5" descr="preencoded.png"/>
          <p:cNvPicPr/>
          <p:nvPr/>
        </p:nvPicPr>
        <p:blipFill>
          <a:blip r:embed="rId6"/>
          <a:stretch/>
        </p:blipFill>
        <p:spPr>
          <a:xfrm>
            <a:off x="2057400" y="340524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Image 6" descr="preencoded.png"/>
          <p:cNvPicPr/>
          <p:nvPr/>
        </p:nvPicPr>
        <p:blipFill>
          <a:blip r:embed="rId7"/>
          <a:stretch/>
        </p:blipFill>
        <p:spPr>
          <a:xfrm>
            <a:off x="2257560" y="3614760"/>
            <a:ext cx="36144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Image 7" descr="preencoded.png"/>
          <p:cNvPicPr/>
          <p:nvPr/>
        </p:nvPicPr>
        <p:blipFill>
          <a:blip r:embed="rId8"/>
          <a:stretch/>
        </p:blipFill>
        <p:spPr>
          <a:xfrm>
            <a:off x="4419720" y="3214800"/>
            <a:ext cx="3352320" cy="21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Image 8" descr="preencoded.png"/>
          <p:cNvPicPr/>
          <p:nvPr/>
        </p:nvPicPr>
        <p:blipFill>
          <a:blip r:embed="rId9"/>
          <a:stretch/>
        </p:blipFill>
        <p:spPr>
          <a:xfrm>
            <a:off x="5715000" y="340524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Image 9" descr="preencoded.png"/>
          <p:cNvPicPr/>
          <p:nvPr/>
        </p:nvPicPr>
        <p:blipFill>
          <a:blip r:embed="rId10"/>
          <a:stretch/>
        </p:blipFill>
        <p:spPr>
          <a:xfrm>
            <a:off x="5952960" y="3614760"/>
            <a:ext cx="28548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Image 10" descr="preencoded.png"/>
          <p:cNvPicPr/>
          <p:nvPr/>
        </p:nvPicPr>
        <p:blipFill>
          <a:blip r:embed="rId11"/>
          <a:stretch/>
        </p:blipFill>
        <p:spPr>
          <a:xfrm>
            <a:off x="8077320" y="3214800"/>
            <a:ext cx="3352320" cy="21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Image 11" descr="preencoded.png"/>
          <p:cNvPicPr/>
          <p:nvPr/>
        </p:nvPicPr>
        <p:blipFill>
          <a:blip r:embed="rId12"/>
          <a:stretch/>
        </p:blipFill>
        <p:spPr>
          <a:xfrm>
            <a:off x="9372600" y="340524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Image 12" descr="preencoded.png"/>
          <p:cNvPicPr/>
          <p:nvPr/>
        </p:nvPicPr>
        <p:blipFill>
          <a:blip r:embed="rId13"/>
          <a:stretch/>
        </p:blipFill>
        <p:spPr>
          <a:xfrm>
            <a:off x="9572760" y="3614760"/>
            <a:ext cx="36144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Text 0"/>
          <p:cNvSpPr/>
          <p:nvPr/>
        </p:nvSpPr>
        <p:spPr>
          <a:xfrm>
            <a:off x="762120" y="571680"/>
            <a:ext cx="1066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6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Conclusion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1028880" y="1714680"/>
            <a:ext cx="1013436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657"/>
              </a:lnSpc>
              <a:tabLst>
                <a:tab algn="l" pos="0"/>
              </a:tabLst>
            </a:pPr>
            <a:r>
              <a:rPr b="1" lang="en-US" sz="225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AI is inevitable in education; ethical use and balance with human intelligence are essential.</a:t>
            </a:r>
            <a:endParaRPr b="0" lang="en-GB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1478160" y="4357800"/>
            <a:ext cx="19198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Unavoidable Tool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960120" y="4700520"/>
            <a:ext cx="29559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95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AI has become an essential component of modern education.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5227200" y="4357800"/>
            <a:ext cx="1737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Ethical Integrity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4617720" y="4700520"/>
            <a:ext cx="29559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95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Productivity gains must be balanced with ethical boundaries.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8719200" y="4357800"/>
            <a:ext cx="2068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34e4a"/>
                </a:solidFill>
                <a:effectLst/>
                <a:uFillTx/>
                <a:latin typeface="Inter"/>
                <a:ea typeface="Inter"/>
              </a:rPr>
              <a:t>Human-AI Balance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8275320" y="4700520"/>
            <a:ext cx="29559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95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Synergy between human thinking and AI capabilities is key.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Image 1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Image 2" descr="preencoded.png"/>
          <p:cNvPicPr/>
          <p:nvPr/>
        </p:nvPicPr>
        <p:blipFill>
          <a:blip r:embed="rId4"/>
          <a:stretch/>
        </p:blipFill>
        <p:spPr>
          <a:xfrm>
            <a:off x="5638680" y="5490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Image 3" descr="preencoded.png"/>
          <p:cNvPicPr/>
          <p:nvPr/>
        </p:nvPicPr>
        <p:blipFill>
          <a:blip r:embed="rId5"/>
          <a:stretch/>
        </p:blipFill>
        <p:spPr>
          <a:xfrm>
            <a:off x="5810400" y="777600"/>
            <a:ext cx="57132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Image 4" descr="preencoded.png"/>
          <p:cNvPicPr/>
          <p:nvPr/>
        </p:nvPicPr>
        <p:blipFill>
          <a:blip r:embed="rId6"/>
          <a:stretch/>
        </p:blipFill>
        <p:spPr>
          <a:xfrm>
            <a:off x="609480" y="5280480"/>
            <a:ext cx="10972440" cy="10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0"/>
          <p:cNvSpPr/>
          <p:nvPr/>
        </p:nvSpPr>
        <p:spPr>
          <a:xfrm>
            <a:off x="3175560" y="2072880"/>
            <a:ext cx="5840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7200" spc="-145" strike="noStrike" u="none">
                <a:solidFill>
                  <a:srgbClr val="064e3b"/>
                </a:solidFill>
                <a:effectLst/>
                <a:uFillTx/>
                <a:latin typeface="Inter"/>
                <a:ea typeface="Inter"/>
              </a:rPr>
              <a:t>Thank You!</a:t>
            </a:r>
            <a:endParaRPr b="0" lang="en-GB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2581200" y="3444480"/>
            <a:ext cx="702900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657"/>
              </a:lnSpc>
              <a:tabLst>
                <a:tab algn="l" pos="0"/>
              </a:tabLst>
            </a:pPr>
            <a:r>
              <a:rPr b="0" lang="en-US" sz="2250" strike="noStrike" u="none">
                <a:solidFill>
                  <a:srgbClr val="0f766e"/>
                </a:solidFill>
                <a:effectLst/>
                <a:uFillTx/>
                <a:latin typeface="Inter"/>
                <a:ea typeface="Inter"/>
              </a:rPr>
              <a:t>Thank you for your attention.</a:t>
            </a:r>
            <a:endParaRPr b="0" lang="en-GB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2581200" y="4061160"/>
            <a:ext cx="7029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I am now ready for the </a:t>
            </a:r>
            <a:r>
              <a:rPr b="1" lang="en-US" sz="1800" strike="noStrike" u="sng">
                <a:solidFill>
                  <a:srgbClr val="065f46"/>
                </a:solidFill>
                <a:effectLst/>
                <a:uFillTx/>
                <a:latin typeface="Inter"/>
                <a:ea typeface="Inter"/>
              </a:rPr>
              <a:t>Question and Answer</a:t>
            </a:r>
            <a:r>
              <a:rPr b="0" lang="en-US" sz="1800" strike="noStrike" u="non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session.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609480" y="5585400"/>
            <a:ext cx="1862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50" spc="85" strike="noStrike" u="non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PRESENTED BY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609480" y="5814000"/>
            <a:ext cx="1862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Abishek Khawas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609480" y="6080400"/>
            <a:ext cx="186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BICTE Student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9102240" y="5851800"/>
            <a:ext cx="2480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ts val="21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93b"/>
                </a:solidFill>
                <a:effectLst/>
                <a:uFillTx/>
                <a:latin typeface="Inter"/>
                <a:ea typeface="Inter"/>
              </a:rPr>
              <a:t>Sukuna Multiple Campus</a:t>
            </a:r>
            <a:endParaRPr b="0" lang="en-GB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9102240" y="6118560"/>
            <a:ext cx="2480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ts val="15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Tribhuvan University, Nepal</a:t>
            </a:r>
            <a:endParaRPr b="0" lang="en-GB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2026-01-27T10:37:54Z</dcterms:created>
  <dc:creator>PptxGenJS</dc:creator>
  <dc:description/>
  <dc:language>en-GB</dc:language>
  <cp:lastModifiedBy/>
  <dcterms:modified xsi:type="dcterms:W3CDTF">2026-01-27T21:28:59Z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