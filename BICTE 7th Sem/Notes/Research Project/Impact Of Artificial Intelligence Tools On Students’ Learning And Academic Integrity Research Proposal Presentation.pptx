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PT Serif"/>
      <p:regular r:id="rId20"/>
    </p:embeddedFont>
    <p:embeddedFont>
      <p:font typeface="PT Serif"/>
      <p:regular r:id="rId21"/>
    </p:embeddedFont>
    <p:embeddedFont>
      <p:font typeface="PT Serif"/>
      <p:regular r:id="rId22"/>
    </p:embeddedFont>
    <p:embeddedFont>
      <p:font typeface="PT Serif"/>
      <p:regular r:id="rId23"/>
    </p:embeddedFont>
    <p:embeddedFont>
      <p:font typeface="DM Sans"/>
      <p:regular r:id="rId24"/>
    </p:embeddedFont>
    <p:embeddedFont>
      <p:font typeface="DM Sans"/>
      <p:regular r:id="rId25"/>
    </p:embeddedFont>
    <p:embeddedFont>
      <p:font typeface="DM Sans"/>
      <p:regular r:id="rId26"/>
    </p:embeddedFont>
    <p:embeddedFont>
      <p:font typeface="DM Sans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1378" y="4054793"/>
            <a:ext cx="1162764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Welcome to Research Proposal Presentation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513921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by:</a:t>
            </a:r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Abishek Khawas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4787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Registration Number:</a:t>
            </a:r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9-2-214-36-2021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55653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</a:t>
            </a:r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2082-04-11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3133011"/>
            <a:ext cx="7556421" cy="1963460"/>
          </a:xfrm>
          <a:prstGeom prst="roundRect">
            <a:avLst>
              <a:gd name="adj" fmla="val 1733"/>
            </a:avLst>
          </a:prstGeom>
          <a:solidFill>
            <a:srgbClr val="B6D6F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3462099"/>
            <a:ext cx="446484" cy="3571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80302" y="3416498"/>
            <a:ext cx="6429494" cy="133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IMPACT OF ARTIFICIAL INTELLIGENCE (AI) TOOLS ON STUDENTS’ LEARNING AND ACADEMIC INTEGRITY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616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Main Agenda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18505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356747" y="1882497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017306" y="1928455"/>
            <a:ext cx="289929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10200084" y="18505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276642" y="1882497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937200" y="1928455"/>
            <a:ext cx="289941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Statement of the Problem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6280190" y="31262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356747" y="315813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017306" y="3204091"/>
            <a:ext cx="289929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Research Objectives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10200084" y="31262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10276642" y="315813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0937200" y="3204091"/>
            <a:ext cx="289941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Conceptual Framework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6280190" y="440186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6356747" y="4433768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017306" y="4479727"/>
            <a:ext cx="289929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Research Questions</a:t>
            </a:r>
            <a:endParaRPr lang="en-US" sz="2300" dirty="0"/>
          </a:p>
        </p:txBody>
      </p:sp>
      <p:sp>
        <p:nvSpPr>
          <p:cNvPr id="19" name="Shape 16"/>
          <p:cNvSpPr/>
          <p:nvPr/>
        </p:nvSpPr>
        <p:spPr>
          <a:xfrm>
            <a:off x="10200084" y="440186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10276642" y="4433768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0937200" y="4479727"/>
            <a:ext cx="289941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Review of Related Studies</a:t>
            </a:r>
            <a:endParaRPr lang="en-US" sz="2300" dirty="0"/>
          </a:p>
        </p:txBody>
      </p:sp>
      <p:sp>
        <p:nvSpPr>
          <p:cNvPr id="22" name="Shape 19"/>
          <p:cNvSpPr/>
          <p:nvPr/>
        </p:nvSpPr>
        <p:spPr>
          <a:xfrm>
            <a:off x="6280190" y="567749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3" name="Text 20"/>
          <p:cNvSpPr/>
          <p:nvPr/>
        </p:nvSpPr>
        <p:spPr>
          <a:xfrm>
            <a:off x="6356747" y="5709404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7017306" y="5755362"/>
            <a:ext cx="289929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Research Methodology</a:t>
            </a:r>
            <a:endParaRPr lang="en-US" sz="2300" dirty="0"/>
          </a:p>
        </p:txBody>
      </p:sp>
      <p:sp>
        <p:nvSpPr>
          <p:cNvPr id="25" name="Shape 22"/>
          <p:cNvSpPr/>
          <p:nvPr/>
        </p:nvSpPr>
        <p:spPr>
          <a:xfrm>
            <a:off x="10200084" y="567749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6" name="Text 23"/>
          <p:cNvSpPr/>
          <p:nvPr/>
        </p:nvSpPr>
        <p:spPr>
          <a:xfrm>
            <a:off x="10276642" y="5709404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10937200" y="5755362"/>
            <a:ext cx="28994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Schedule</a:t>
            </a:r>
            <a:endParaRPr lang="en-US" sz="2300" dirty="0"/>
          </a:p>
        </p:txBody>
      </p:sp>
      <p:sp>
        <p:nvSpPr>
          <p:cNvPr id="28" name="Shape 25"/>
          <p:cNvSpPr/>
          <p:nvPr/>
        </p:nvSpPr>
        <p:spPr>
          <a:xfrm>
            <a:off x="6280190" y="69531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9" name="Text 26"/>
          <p:cNvSpPr/>
          <p:nvPr/>
        </p:nvSpPr>
        <p:spPr>
          <a:xfrm>
            <a:off x="6356747" y="6985040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7017306" y="70309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References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1206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296483"/>
            <a:ext cx="7556421" cy="272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tools like </a:t>
            </a:r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ChatGPT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Bard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 Copilot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Grammarly AI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enhancing learning by offering quick help, personalized feedback, and 24/7 support. However, easy access to answers may affect students’ originality, honesty, and deep understanding. This study looks at how AI impacts learning and ethics in education.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35593"/>
            <a:ext cx="681394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Statement of the Problem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033480"/>
            <a:ext cx="130428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Excessive AI use can diminish students' critical thinking abilities. The rise of AI has led to an increase in instances of </a:t>
            </a:r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plagiarism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during assessments. Conversely, AI tools also offer significant benefits, such as fostering </a:t>
            </a:r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learning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providing robust academic support.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357" y="595074"/>
            <a:ext cx="5680710" cy="70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Research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7357" y="2062401"/>
            <a:ext cx="6449616" cy="2519005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57357" y="2031921"/>
            <a:ext cx="6449616" cy="121920"/>
          </a:xfrm>
          <a:prstGeom prst="roundRect">
            <a:avLst>
              <a:gd name="adj" fmla="val 26625"/>
            </a:avLst>
          </a:prstGeom>
          <a:solidFill>
            <a:srgbClr val="E04F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737836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3852267" y="1900118"/>
            <a:ext cx="259675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4173" y="2603421"/>
            <a:ext cx="5955982" cy="1731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explore the impact of Artificial Intelligence (AI) tools on students’ learning processes and academic integrity through a qualitative approach.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423309" y="2062401"/>
            <a:ext cx="6449735" cy="2519005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23309" y="2031921"/>
            <a:ext cx="6449735" cy="121920"/>
          </a:xfrm>
          <a:prstGeom prst="roundRect">
            <a:avLst>
              <a:gd name="adj" fmla="val 26625"/>
            </a:avLst>
          </a:prstGeom>
          <a:solidFill>
            <a:srgbClr val="E04F00"/>
          </a:solidFill>
          <a:ln/>
        </p:spPr>
      </p:sp>
      <p:sp>
        <p:nvSpPr>
          <p:cNvPr id="10" name="Shape 8"/>
          <p:cNvSpPr/>
          <p:nvPr/>
        </p:nvSpPr>
        <p:spPr>
          <a:xfrm>
            <a:off x="10323552" y="1737836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8219" y="1900118"/>
            <a:ext cx="259675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70125" y="2603421"/>
            <a:ext cx="5956102" cy="1731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investigate the various ways students integrate AI tools into their academic tasks such as assignments, research, and exam preparation.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57357" y="5122307"/>
            <a:ext cx="6449616" cy="2519005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57357" y="5091827"/>
            <a:ext cx="6449616" cy="121920"/>
          </a:xfrm>
          <a:prstGeom prst="roundRect">
            <a:avLst>
              <a:gd name="adj" fmla="val 26625"/>
            </a:avLst>
          </a:prstGeom>
          <a:solidFill>
            <a:srgbClr val="E04F00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4797743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3852267" y="4960025"/>
            <a:ext cx="259675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4173" y="5663327"/>
            <a:ext cx="5955982" cy="1731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understand students’ perceptions of how AI tools affect their cognitive development, critical thinking, and overall learning experience.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423309" y="5122307"/>
            <a:ext cx="6449735" cy="2519005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423309" y="5091827"/>
            <a:ext cx="6449735" cy="121920"/>
          </a:xfrm>
          <a:prstGeom prst="roundRect">
            <a:avLst>
              <a:gd name="adj" fmla="val 26625"/>
            </a:avLst>
          </a:prstGeom>
          <a:solidFill>
            <a:srgbClr val="E04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23552" y="4797743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8219" y="4960025"/>
            <a:ext cx="259675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70125" y="5663327"/>
            <a:ext cx="5956102" cy="1731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examine ethical concerns arising from AI use in education, particularly in relation to plagiarism, academic dishonesty, and over dependence.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967" y="542092"/>
            <a:ext cx="5295543" cy="64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Conceptual Framework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689967" y="1583055"/>
            <a:ext cx="13250466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framework illustrates the relationships between AI tool usage, student learning outcomes, and academic integrity, considering relevant moderating factors.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9967" y="2667357"/>
            <a:ext cx="2766893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Independent Variable: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9967" y="3286363"/>
            <a:ext cx="13250466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Tool Usage (e.g., ChatGPT, Bard, Bing AI, Jasper AI, Grammarly AI)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9967" y="3976330"/>
            <a:ext cx="2656403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Dependent Variables: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9967" y="4595336"/>
            <a:ext cx="13250466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Learning Outcomes (e.g., engagement, comprehension)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9967" y="5058608"/>
            <a:ext cx="13250466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Integrity (e.g., honesty, originality of work)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9967" y="5748576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Moderating Factors: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9967" y="6367582"/>
            <a:ext cx="13250466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Institutional AI Policies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9967" y="6830854"/>
            <a:ext cx="13250466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Students' Digital Literacy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9967" y="7294126"/>
            <a:ext cx="13250466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 of AI Tool Usage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693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Research Questions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3248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0347" y="3356729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3353157"/>
            <a:ext cx="564249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are students integrating AI tools into their academic activities?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56884" y="33248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533442" y="3356729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194000" y="3353157"/>
            <a:ext cx="5642610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what ways do students believe these tools affect their learning and thinking skills?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516731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70347" y="5199221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30906" y="5195649"/>
            <a:ext cx="564249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are the ethical concerns faced by students and educators regarding AI use?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56884" y="516731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533442" y="5199221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94000" y="5195649"/>
            <a:ext cx="5642610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strategies can institutions adopt to foster ethical and effective AI tool usage?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932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Literature Review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77214"/>
            <a:ext cx="4196358" cy="3310771"/>
          </a:xfrm>
          <a:prstGeom prst="roundRect">
            <a:avLst>
              <a:gd name="adj" fmla="val 102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704028"/>
            <a:ext cx="374273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Benefits &amp; Risks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293626"/>
            <a:ext cx="3742730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enables personalized learning but risks reducing critical thinking through cognitive offloading (Kasneci et al., 2023)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16962" y="2477214"/>
            <a:ext cx="4196358" cy="3310771"/>
          </a:xfrm>
          <a:prstGeom prst="roundRect">
            <a:avLst>
              <a:gd name="adj" fmla="val 102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2704028"/>
            <a:ext cx="374273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Integrity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293626"/>
            <a:ext cx="3742730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Concerns about plagiarism and dishonesty require institutional oversight and clear guidelines (Cotton et al., 2023)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2477214"/>
            <a:ext cx="4196358" cy="3310771"/>
          </a:xfrm>
          <a:prstGeom prst="roundRect">
            <a:avLst>
              <a:gd name="adj" fmla="val 102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2704028"/>
            <a:ext cx="374273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Perspectives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293626"/>
            <a:ext cx="3742730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appreciate efficiency but worry about impacts on creativity and independent problem-solving (Zhang et al., 2024)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6043136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Educators report challenges in detecting AI-generated content, highlighting the need for improved assessment techniques (Williams &amp; Nguyen, 2023)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843" y="536496"/>
            <a:ext cx="4837033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Methodology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4843" y="1601629"/>
            <a:ext cx="2902148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Research Design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44843" y="2148602"/>
            <a:ext cx="3702368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Qualitative exploratory study using phenomenological approach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4843" y="3070027"/>
            <a:ext cx="2902148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Sample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44843" y="3617000"/>
            <a:ext cx="3702368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students (Focus Group Discussions)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4843" y="4418648"/>
            <a:ext cx="3702368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educators (In-depth Interviews)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4843" y="5340072"/>
            <a:ext cx="2902148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Sampling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644843" y="5887045"/>
            <a:ext cx="3702368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Purposive sampling for students who use AI tools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4843" y="6790015"/>
            <a:ext cx="3702368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Expert sampling for educators experienced in assessment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04410" y="1601629"/>
            <a:ext cx="2902148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Collection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4804410" y="2148602"/>
            <a:ext cx="3702368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Semi-structured interviews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804410" y="2581632"/>
            <a:ext cx="3702368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Group Discussion protocols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804410" y="3383280"/>
            <a:ext cx="3702368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In-person or virtual sessions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804410" y="3936087"/>
            <a:ext cx="2902148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Analysis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4804410" y="4483060"/>
            <a:ext cx="3702368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Thematic Analysis (Braun &amp; Clarke, 2006)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804410" y="5386030"/>
            <a:ext cx="3702368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Six-phase approach from familiarization to write-up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804410" y="6187678"/>
            <a:ext cx="3702368" cy="1105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method has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steps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find and explain important ideas in the data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779" y="556855"/>
            <a:ext cx="5316022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Timeline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303770" y="1626275"/>
            <a:ext cx="22860" cy="6046351"/>
          </a:xfrm>
          <a:prstGeom prst="roundRect">
            <a:avLst>
              <a:gd name="adj" fmla="val 132886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6502777" y="1842611"/>
            <a:ext cx="607457" cy="22860"/>
          </a:xfrm>
          <a:prstGeom prst="roundRect">
            <a:avLst>
              <a:gd name="adj" fmla="val 132886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087374" y="1626275"/>
            <a:ext cx="455652" cy="4556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7155716" y="1654731"/>
            <a:ext cx="318849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44741" y="1695807"/>
            <a:ext cx="265795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Weeks 1-2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08779" y="2149435"/>
            <a:ext cx="559391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Proposal approval and literature review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20166" y="3057525"/>
            <a:ext cx="607457" cy="22860"/>
          </a:xfrm>
          <a:prstGeom prst="roundRect">
            <a:avLst>
              <a:gd name="adj" fmla="val 132886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7087374" y="2841188"/>
            <a:ext cx="455652" cy="4556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155716" y="2869644"/>
            <a:ext cx="318849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327708" y="2910721"/>
            <a:ext cx="265795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Week 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8327708" y="3364349"/>
            <a:ext cx="559391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 development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02777" y="4104799"/>
            <a:ext cx="607457" cy="22860"/>
          </a:xfrm>
          <a:prstGeom prst="roundRect">
            <a:avLst>
              <a:gd name="adj" fmla="val 132886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7374" y="3888462"/>
            <a:ext cx="455652" cy="4556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716" y="3916918"/>
            <a:ext cx="318849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644741" y="3957995"/>
            <a:ext cx="265795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Weeks 4-5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08779" y="4411623"/>
            <a:ext cx="559391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collection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20166" y="5152072"/>
            <a:ext cx="607457" cy="22860"/>
          </a:xfrm>
          <a:prstGeom prst="roundRect">
            <a:avLst>
              <a:gd name="adj" fmla="val 132886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7374" y="4935736"/>
            <a:ext cx="455652" cy="4556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7155716" y="4964192"/>
            <a:ext cx="318849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327708" y="5005268"/>
            <a:ext cx="265795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Weeks 6-7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8327708" y="5458897"/>
            <a:ext cx="559391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analysis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02777" y="6199346"/>
            <a:ext cx="607457" cy="22860"/>
          </a:xfrm>
          <a:prstGeom prst="roundRect">
            <a:avLst>
              <a:gd name="adj" fmla="val 132886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7374" y="5983010"/>
            <a:ext cx="455652" cy="4556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55716" y="6011466"/>
            <a:ext cx="318849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3644741" y="6052542"/>
            <a:ext cx="265795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Weeks 7-8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708779" y="6506170"/>
            <a:ext cx="559391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 writing and finalization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205" y="769501"/>
            <a:ext cx="5139214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references: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205" y="1705451"/>
            <a:ext cx="7773591" cy="117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Kasneci, E., Sessler, K., Kühn, S., et al. (2023).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ts val="245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ChatGPT for good? On opportunities and challenges of large language models for education.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and Individual Differences.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205" y="2948345"/>
            <a:ext cx="7773591" cy="117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Cotton, D. R. E., Cotton, P. A., &amp; Shipway, J. R. (2023).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ts val="245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Chatting and cheating? Exploring the impact of ChatGPT on higher education assessment.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 for Information.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205" y="4191238"/>
            <a:ext cx="7773591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UNESCO. (2023).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ts val="245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and education: Guidance for policymakers.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UNESCO report.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205" y="5042654"/>
            <a:ext cx="7773591" cy="117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Zhang, X., Li, Y., &amp; Chen, H. (2024).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ts val="245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perceptions of AI integration in higher education: Opportunities and challenges.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Journal of Educational Technology.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205" y="6285548"/>
            <a:ext cx="7773591" cy="117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5"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Williams, R., &amp; Nguyen, T. (2023).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ts val="245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integrity in the age of AI: Educator perspectives on challenges and solutions. Higher Education Review.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842" y="374261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Thank you!!!!</a:t>
            </a:r>
            <a:endParaRPr lang="en-US" sz="4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2025-07-27T23:47:31Z</dcterms:created>
  <dcterms:modified xsi:type="dcterms:W3CDTF">2025-07-27T23:47:31Z</dcterms:modified>
</cp:coreProperties>
</file>